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3F971C2-F2EC-BE29-3841-FE575B1F2FCD}">
          <p14:sldIdLst>
            <p14:sldId id="256"/>
          </p14:sldIdLst>
        </p14:section>
        <p14:section name="Problem" id="{1BD09827-0E22-3E69-52AD-E6E1BBDECDD2}">
          <p14:sldIdLst>
            <p14:sldId id="257"/>
          </p14:sldIdLst>
        </p14:section>
        <p14:section name="Workflow" id="{CE3C2C9A-C382-3885-0628-10EDF36882E4}">
          <p14:sldIdLst>
            <p14:sldId id="258"/>
            <p14:sldId id="259"/>
            <p14:sldId id="260"/>
            <p14:sldId id="261"/>
          </p14:sldIdLst>
        </p14:section>
        <p14:section name="Dashboard" id="{93204903-5D0B-52F1-7E40-330E3C812996}">
          <p14:sldIdLst>
            <p14:sldId id="262"/>
          </p14:sldIdLst>
        </p14:section>
        <p14:section name="Findings" id="{08FAC4C3-4151-5089-1DFA-970CCC165E79}">
          <p14:sldIdLst>
            <p14:sldId id="263"/>
            <p14:sldId id="264"/>
          </p14:sldIdLst>
        </p14:section>
        <p14:section name="Recommendations" id="{ECA85871-573E-06E5-D463-B8C99021C505}">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2864" autoAdjust="0"/>
  </p:normalViewPr>
  <p:slideViewPr>
    <p:cSldViewPr snapToGrid="0" snapToObjects="1">
      <p:cViewPr varScale="1">
        <p:scale>
          <a:sx n="56" d="100"/>
          <a:sy n="56" d="100"/>
        </p:scale>
        <p:origin x="1685"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3"/>
                </a:solidFill>
                <a:latin typeface="+mn-lt"/>
              </a:defRPr>
            </a:pPr>
            <a:r>
              <a:rPr sz="1400" b="0" i="0" u="none" strike="noStrike">
                <a:solidFill>
                  <a:srgbClr val="1F2933"/>
                </a:solidFill>
                <a:latin typeface="+mn-lt"/>
              </a:rPr>
              <a:t>Rolling 12-month reviews each August (Aug 2023 = 100)</a:t>
            </a:r>
          </a:p>
        </c:rich>
      </c:tx>
      <c:overlay val="0"/>
    </c:title>
    <c:autoTitleDeleted val="0"/>
    <c:plotArea>
      <c:layout/>
      <c:lineChart>
        <c:grouping val="standard"/>
        <c:varyColors val="0"/>
        <c:ser>
          <c:idx val="0"/>
          <c:order val="0"/>
          <c:tx>
            <c:strRef>
              <c:f>Sheet1!$B$1</c:f>
              <c:strCache>
                <c:ptCount val="1"/>
                <c:pt idx="0">
                  <c:v>New York</c:v>
                </c:pt>
              </c:strCache>
            </c:strRef>
          </c:tx>
          <c:spPr>
            <a:ln w="38100" cap="flat">
              <a:solidFill>
                <a:srgbClr val="1F4E79"/>
              </a:solidFill>
              <a:prstDash val="solid"/>
              <a:round/>
            </a:ln>
            <a:effectLst/>
          </c:spPr>
          <c:marker>
            <c:symbol val="circle"/>
            <c:size val="7"/>
            <c:spPr>
              <a:solidFill>
                <a:srgbClr val="1F4E79"/>
              </a:solidFill>
              <a:ln w="9525" cap="flat">
                <a:solidFill>
                  <a:srgbClr val="1F4E79"/>
                </a:solidFill>
                <a:prstDash val="solid"/>
                <a:round/>
              </a:ln>
              <a:effectLst/>
            </c:spPr>
          </c:marker>
          <c:cat>
            <c:strRef>
              <c:f>Sheet1!$A$2:$A$9</c:f>
              <c:strCache>
                <c:ptCount val="8"/>
                <c:pt idx="0">
                  <c:v>2019</c:v>
                </c:pt>
                <c:pt idx="1">
                  <c:v>2020</c:v>
                </c:pt>
                <c:pt idx="2">
                  <c:v>2021</c:v>
                </c:pt>
                <c:pt idx="3">
                  <c:v>2022</c:v>
                </c:pt>
                <c:pt idx="4">
                  <c:v>2023</c:v>
                </c:pt>
                <c:pt idx="5">
                  <c:v>2024</c:v>
                </c:pt>
                <c:pt idx="6">
                  <c:v>2025</c:v>
                </c:pt>
                <c:pt idx="7">
                  <c:v>2026</c:v>
                </c:pt>
              </c:strCache>
            </c:strRef>
          </c:cat>
          <c:val>
            <c:numRef>
              <c:f>Sheet1!$B$2:$B$9</c:f>
              <c:numCache>
                <c:formatCode>General</c:formatCode>
                <c:ptCount val="8"/>
                <c:pt idx="0">
                  <c:v>51.6</c:v>
                </c:pt>
                <c:pt idx="1">
                  <c:v>37.1</c:v>
                </c:pt>
                <c:pt idx="2">
                  <c:v>34.4</c:v>
                </c:pt>
                <c:pt idx="3">
                  <c:v>68.900000000000006</c:v>
                </c:pt>
                <c:pt idx="4">
                  <c:v>100</c:v>
                </c:pt>
                <c:pt idx="5">
                  <c:v>66.3</c:v>
                </c:pt>
                <c:pt idx="6">
                  <c:v>79</c:v>
                </c:pt>
                <c:pt idx="7">
                  <c:v>94.9</c:v>
                </c:pt>
              </c:numCache>
            </c:numRef>
          </c:val>
          <c:smooth val="0"/>
          <c:extLst>
            <c:ext xmlns:c16="http://schemas.microsoft.com/office/drawing/2014/chart" uri="{C3380CC4-5D6E-409C-BE32-E72D297353CC}">
              <c16:uniqueId val="{00000000-9986-4D39-9F80-172478CD7C2C}"/>
            </c:ext>
          </c:extLst>
        </c:ser>
        <c:ser>
          <c:idx val="1"/>
          <c:order val="1"/>
          <c:tx>
            <c:strRef>
              <c:f>Sheet1!$C$1</c:f>
              <c:strCache>
                <c:ptCount val="1"/>
                <c:pt idx="0">
                  <c:v>London</c:v>
                </c:pt>
              </c:strCache>
            </c:strRef>
          </c:tx>
          <c:spPr>
            <a:ln w="38100" cap="flat">
              <a:solidFill>
                <a:srgbClr val="7FB2E5"/>
              </a:solidFill>
              <a:prstDash val="solid"/>
              <a:round/>
            </a:ln>
            <a:effectLst/>
          </c:spPr>
          <c:marker>
            <c:symbol val="circle"/>
            <c:size val="7"/>
            <c:spPr>
              <a:solidFill>
                <a:srgbClr val="7FB2E5"/>
              </a:solidFill>
              <a:ln w="9525" cap="flat">
                <a:solidFill>
                  <a:srgbClr val="7FB2E5"/>
                </a:solidFill>
                <a:prstDash val="solid"/>
                <a:round/>
              </a:ln>
              <a:effectLst/>
            </c:spPr>
          </c:marker>
          <c:cat>
            <c:strRef>
              <c:f>Sheet1!$A$2:$A$9</c:f>
              <c:strCache>
                <c:ptCount val="8"/>
                <c:pt idx="0">
                  <c:v>2019</c:v>
                </c:pt>
                <c:pt idx="1">
                  <c:v>2020</c:v>
                </c:pt>
                <c:pt idx="2">
                  <c:v>2021</c:v>
                </c:pt>
                <c:pt idx="3">
                  <c:v>2022</c:v>
                </c:pt>
                <c:pt idx="4">
                  <c:v>2023</c:v>
                </c:pt>
                <c:pt idx="5">
                  <c:v>2024</c:v>
                </c:pt>
                <c:pt idx="6">
                  <c:v>2025</c:v>
                </c:pt>
                <c:pt idx="7">
                  <c:v>2026</c:v>
                </c:pt>
              </c:strCache>
            </c:strRef>
          </c:cat>
          <c:val>
            <c:numRef>
              <c:f>Sheet1!$C$2:$C$9</c:f>
              <c:numCache>
                <c:formatCode>General</c:formatCode>
                <c:ptCount val="8"/>
                <c:pt idx="0">
                  <c:v>53.5</c:v>
                </c:pt>
                <c:pt idx="1">
                  <c:v>32.200000000000003</c:v>
                </c:pt>
                <c:pt idx="2">
                  <c:v>15.5</c:v>
                </c:pt>
                <c:pt idx="3">
                  <c:v>60.1</c:v>
                </c:pt>
                <c:pt idx="4">
                  <c:v>100</c:v>
                </c:pt>
                <c:pt idx="5">
                  <c:v>126.7</c:v>
                </c:pt>
                <c:pt idx="6">
                  <c:v>162.80000000000001</c:v>
                </c:pt>
                <c:pt idx="7">
                  <c:v>225.6</c:v>
                </c:pt>
              </c:numCache>
            </c:numRef>
          </c:val>
          <c:smooth val="0"/>
          <c:extLst>
            <c:ext xmlns:c16="http://schemas.microsoft.com/office/drawing/2014/chart" uri="{C3380CC4-5D6E-409C-BE32-E72D297353CC}">
              <c16:uniqueId val="{00000001-9986-4D39-9F80-172478CD7C2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95959"/>
                </a:solidFill>
                <a:latin typeface="+mn-lt"/>
              </a:defRPr>
            </a:pPr>
            <a:endParaRPr lang="en-US"/>
          </a:p>
        </c:txPr>
        <c:crossAx val="2094734552"/>
        <c:crosses val="autoZero"/>
        <c:auto val="1"/>
        <c:lblAlgn val="ctr"/>
        <c:lblOffset val="100"/>
        <c:noMultiLvlLbl val="1"/>
      </c:catAx>
      <c:valAx>
        <c:axId val="2094734552"/>
        <c:scaling>
          <c:orientation val="minMax"/>
          <c:max val="250"/>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4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3708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asks a practical question: how can Airbnb's regional team monitor and compare two of its biggest city markets, New York and London, using a real analytics workflow rather than a spreadsheet. I built the full chain myself: an ELT pipeline in MySQL, a set of SQL KPIs, and a Power BI dashboard that refreshes as new data arrives. In the next ten minutes I will walk through the workflow, show the dashboard, and end with what I would recommend to management.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is a regional strategy team at Airbnb. Airbnb is a good fit for this assignment because its data platform was built on Hadoop: HDFS, Hive, Presto, Spark, and it created Apache Airflow. I used the public Inside Airbnb snapshots from September 2026: almost 122,000 listings and 3.3 million reviews. New York and London make a natural experiment, because New York started enforcing Local Law 18 in September 2023 while London kept its 90-night rule. The four questions on the left drive everything that follows.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I chose ELT rather than ETL. Extract and Load means the six CSV files go into raw staging tables untouched, using server-side LOAD DATA INFILE. Transform happens inside the database with SQL, so the raw rows are always there if a cleaning rule needs to change. Then aggregates and a scheduled snapshot, and finally semantic views that Power BI imports. The chips at the bottom show the Hadoop equivalent of each layer: at Airbnb scale the folder would be HDFS or S3, the SQL would run in Hive or Spark, and Airflow would replace the MySQL event. The logic does not change, only where it runs.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cleaning rules turn staging data into analysis-ready tables. The key design choice was to flag rather than delete. About 35 percent of listings had no price in the snapshot. Deleting them would hide a third of the supply, so they are kept with a status flag and simply excluded from price and revenue measures. Every rule writes how many rows it touched to a log table. The clean data sits in a star schema: a listing fact and a review fact, surrounded by city, neighbourhood, room type, host and date dimensions.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has sixteen queries, each tied to one business question. The table shows the main techniques: joins across the star schema, a CTE with ROW_NUMBER to get a true median since MySQL has no median function, LAG and rolling sums for the regulation trend, NTILE and running shares for concentration, and prepared statements and stored procedures for dynamic filters. On the right are the KPIs. Each is defined once in SQL and once in DAX with the same logic, and two have targets so the dashboard shows performance, not just numbers. The targets are my management benchmarks, not industry standards.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here means near-real-time micro-batching, which is how most business dashboards work. A MySQL event runs every fifteen minutes and writes a KPI snapshot with a timestamp. For the demonstration, a procedure inserts simulated live reviews, refreshes the aggregates and takes a snapshot. When I press Refresh in Power BI, the new row appears in the snapshot log and the last-refreshed card changes. You can see the captures at 20:34, 20:49, 21:04 and so on. Simulated rows can be removed with one call, so the demo never pollutes the real data. In production this would be Power BI Service with a scheduled refresh through a gateway.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 connects to MySQL with the native connector in Import mode and reads the clean views. The report has four pages that follow one storyline: the Overview compares the cities, the Neighbourhoods page shows where the business sits on the map, the Neighbourhood Detail page opens one area, and the KPI page shows targets and freshness. Three kinds of interaction: slicers filter the whole page; drill-down and drill-up stay inside one visual, for example the matrix goes from city to room type with the plus and minus signs; and drill-through jumps to another page. I can show that live: right-click Westminster, choose Drill through, and the detail page opens filtered to Westminster. The dashboard runs on a 2,000-listing sample per city for laptop speed; the full pipeline was validated on all the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findings. Until 2023 the two lines move together. After New York began enforcing Local Law 18 in September 2023, its twelve-month review volume fell to 66 within a year and has only climbed back to 95, while London rose to 226. The supply data explains it: 80.7 percent of New York listings now require stays of 30 nights or more, against 2 percent in London. Headline counts also overstate both markets: only 31 percent of New York listings and 43 percent of London listings are active. And concentration is high in both cities: the largest 10 percent of hosts hold about 45 percent of listings. One more number for the viva: an active New York listing earns about 34,000 dollars a year, 1.7 times an active London listing.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Airbnb does not compete in a vacuum. On full-year 2025 results, Booking Holdings is more than twice Airbnb's revenue and is pushing into alternative accommodation, so an unhappy London host has an obvious alternative. Expedia, with Vrbo, is similar in revenue to Airbnb but leans to holiday areas. The key point is exposure to city rules: Airbnb's supply is private homes, so regulation hits it hardest, and in New York guests can simply book a hotel instead. Airbnb's distinctive asset is long stays and experiences.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sets of recommendations. In New York, accept that it is now a mid-term market and build a product for stays of 30 nights and more, aimed at corporate and relocation guests; and deal with the 757 unlicensed short-stay listings, because 513 of them are active. In London, protect the eleven boroughs that make 80 percent of revenue and recruit hosts in high-occupancy areas with thin supply. Across the platform, dormant listings are the cheapest growth: bringing back 1,000 of them at today's active-listing earnings is worth about 34 million dollars to hosts. Technically, the same pipeline can move to S3, Spark and Airflow with Power BI Service for hourly refresh. The main message: one strategy will not fit both cities, and the dashboard gives the evidence to treat them differently. Thank you, I am happy to take questions or show the live drill-through.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4E79"/>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rtlCol="0"/>
          <a:lstStyle>
            <a:lvl1pPr marL="0" indent="0" algn="l">
              <a:buNone/>
              <a:defRPr lang="en-US" sz="2600" b="1" dirty="0">
                <a:solidFill>
                  <a:srgbClr val="1F4E79"/>
                </a:solidFill>
              </a:defRPr>
            </a:lvl1pPr>
          </a:lstStyle>
          <a:p>
            <a:pPr marL="0" indent="0" algn="l">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595959"/>
                </a:solidFill>
              </a:rPr>
              <a:t>Alex Abraham (25121007)  |  Business Decision Intelligence, MBA443B</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txBox="1"/>
          <p:nvPr/>
        </p:nvSpPr>
        <p:spPr>
          <a:xfrm>
            <a:off x="548640" y="2103120"/>
            <a:ext cx="11064240" cy="1188720"/>
          </a:xfrm>
          <a:prstGeom prst="rect">
            <a:avLst/>
          </a:prstGeom>
          <a:noFill/>
          <a:ln/>
        </p:spPr>
        <p:txBody>
          <a:bodyPr wrap="square" lIns="0" tIns="0" rIns="0" bIns="0" rtlCol="0" anchor="ctr"/>
          <a:lstStyle/>
          <a:p>
            <a:pPr marL="0" indent="0">
              <a:buNone/>
            </a:pPr>
            <a:r>
              <a:rPr lang="en-US" sz="4000" b="1" dirty="0">
                <a:solidFill>
                  <a:srgbClr val="FFFFFF"/>
                </a:solidFill>
              </a:rPr>
              <a:t>Real-Time Short-Term Rental Analytics for Airbnb</a:t>
            </a:r>
            <a:endParaRPr lang="en-US" sz="4000" dirty="0"/>
          </a:p>
        </p:txBody>
      </p:sp>
      <p:sp>
        <p:nvSpPr>
          <p:cNvPr id="5" name="Text 2"/>
          <p:cNvSpPr txBox="1"/>
          <p:nvPr/>
        </p:nvSpPr>
        <p:spPr>
          <a:xfrm>
            <a:off x="548640" y="3291840"/>
            <a:ext cx="11064240" cy="548640"/>
          </a:xfrm>
          <a:prstGeom prst="rect">
            <a:avLst/>
          </a:prstGeom>
          <a:noFill/>
          <a:ln/>
        </p:spPr>
        <p:txBody>
          <a:bodyPr wrap="square" lIns="0" tIns="0" rIns="0" bIns="0" rtlCol="0" anchor="ctr"/>
          <a:lstStyle/>
          <a:p>
            <a:pPr marL="0" indent="0">
              <a:buNone/>
            </a:pPr>
            <a:r>
              <a:rPr lang="en-US" sz="2000" i="1" dirty="0">
                <a:solidFill>
                  <a:srgbClr val="CADCFC"/>
                </a:solidFill>
              </a:rPr>
              <a:t>An ELT pipeline, SQL KPI engine and Power BI dashboard comparing New York and London</a:t>
            </a:r>
            <a:endParaRPr lang="en-US" sz="2000" dirty="0"/>
          </a:p>
        </p:txBody>
      </p:sp>
      <p:sp>
        <p:nvSpPr>
          <p:cNvPr id="6" name="Text 3"/>
          <p:cNvSpPr txBox="1"/>
          <p:nvPr/>
        </p:nvSpPr>
        <p:spPr>
          <a:xfrm>
            <a:off x="548640" y="4434840"/>
            <a:ext cx="11064240" cy="1280160"/>
          </a:xfrm>
          <a:prstGeom prst="rect">
            <a:avLst/>
          </a:prstGeom>
          <a:noFill/>
          <a:ln/>
        </p:spPr>
        <p:txBody>
          <a:bodyPr wrap="square" lIns="0" tIns="0" rIns="0" bIns="0" rtlCol="0" anchor="ctr"/>
          <a:lstStyle/>
          <a:p>
            <a:pPr marL="0" indent="0">
              <a:spcAft>
                <a:spcPts val="600"/>
              </a:spcAft>
              <a:buNone/>
            </a:pPr>
            <a:r>
              <a:rPr lang="en-US" sz="1600" dirty="0">
                <a:solidFill>
                  <a:srgbClr val="FFFFFF"/>
                </a:solidFill>
              </a:rPr>
              <a:t>Alex Abraham  |  25121007  |  4MBA BA PLC</a:t>
            </a:r>
            <a:endParaRPr lang="en-US" sz="1600" dirty="0"/>
          </a:p>
          <a:p>
            <a:pPr marL="0" indent="0">
              <a:spcAft>
                <a:spcPts val="600"/>
              </a:spcAft>
              <a:buNone/>
            </a:pPr>
            <a:r>
              <a:rPr lang="en-US" sz="1600" dirty="0">
                <a:solidFill>
                  <a:srgbClr val="FFFFFF"/>
                </a:solidFill>
              </a:rPr>
              <a:t>Business Decision Intelligence (MBA443B)  |  Faculty: Dr. Himani Sivaraman</a:t>
            </a:r>
            <a:endParaRPr lang="en-US" sz="1600" dirty="0"/>
          </a:p>
          <a:p>
            <a:pPr marL="0" indent="0">
              <a:spcAft>
                <a:spcPts val="600"/>
              </a:spcAft>
              <a:buNone/>
            </a:pPr>
            <a:r>
              <a:rPr lang="en-US" sz="1600" dirty="0">
                <a:solidFill>
                  <a:srgbClr val="FFFFFF"/>
                </a:solidFill>
              </a:rPr>
              <a:t>CHRIST (Deemed to be University), Pune Lavasa Campus  |  11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Airbnb needs one trusted view of two very different city markets</a:t>
            </a:r>
            <a:endParaRPr lang="en-US" sz="2600" dirty="0"/>
          </a:p>
        </p:txBody>
      </p:sp>
      <p:sp>
        <p:nvSpPr>
          <p:cNvPr id="3" name="Text 1"/>
          <p:cNvSpPr txBox="1"/>
          <p:nvPr/>
        </p:nvSpPr>
        <p:spPr>
          <a:xfrm>
            <a:off x="548640" y="1325880"/>
            <a:ext cx="6035040" cy="365760"/>
          </a:xfrm>
          <a:prstGeom prst="rect">
            <a:avLst/>
          </a:prstGeom>
          <a:noFill/>
          <a:ln/>
        </p:spPr>
        <p:txBody>
          <a:bodyPr wrap="square" lIns="0" tIns="0" rIns="0" bIns="0" rtlCol="0" anchor="ctr"/>
          <a:lstStyle/>
          <a:p>
            <a:pPr marL="0" indent="0">
              <a:buNone/>
            </a:pPr>
            <a:r>
              <a:rPr lang="en-US" sz="1800" b="1" dirty="0">
                <a:solidFill>
                  <a:srgbClr val="1F4E79"/>
                </a:solidFill>
              </a:rPr>
              <a:t>Business scenario</a:t>
            </a:r>
            <a:endParaRPr lang="en-US" sz="1800" dirty="0"/>
          </a:p>
        </p:txBody>
      </p:sp>
      <p:sp>
        <p:nvSpPr>
          <p:cNvPr id="4" name="Text 2"/>
          <p:cNvSpPr txBox="1"/>
          <p:nvPr/>
        </p:nvSpPr>
        <p:spPr>
          <a:xfrm>
            <a:off x="548640" y="1737360"/>
            <a:ext cx="6035040" cy="914400"/>
          </a:xfrm>
          <a:prstGeom prst="rect">
            <a:avLst/>
          </a:prstGeom>
          <a:noFill/>
          <a:ln/>
        </p:spPr>
        <p:txBody>
          <a:bodyPr wrap="square" lIns="0" tIns="0" rIns="0" bIns="0" rtlCol="0" anchor="t"/>
          <a:lstStyle/>
          <a:p>
            <a:pPr marL="0" indent="0">
              <a:buNone/>
            </a:pPr>
            <a:r>
              <a:rPr lang="en-US" sz="1600" dirty="0">
                <a:solidFill>
                  <a:srgbClr val="1F2933"/>
                </a:solidFill>
              </a:rPr>
              <a:t>A regional strategy team at Airbnb, a long-time Hadoop user, must decide where to act in New York and London as regulation reshapes both markets.</a:t>
            </a:r>
            <a:endParaRPr lang="en-US" sz="1600" dirty="0"/>
          </a:p>
        </p:txBody>
      </p:sp>
      <p:sp>
        <p:nvSpPr>
          <p:cNvPr id="5" name="Text 3"/>
          <p:cNvSpPr txBox="1"/>
          <p:nvPr/>
        </p:nvSpPr>
        <p:spPr>
          <a:xfrm>
            <a:off x="548640" y="2788920"/>
            <a:ext cx="6035040" cy="365760"/>
          </a:xfrm>
          <a:prstGeom prst="rect">
            <a:avLst/>
          </a:prstGeom>
          <a:noFill/>
          <a:ln/>
        </p:spPr>
        <p:txBody>
          <a:bodyPr wrap="square" lIns="0" tIns="0" rIns="0" bIns="0" rtlCol="0" anchor="ctr"/>
          <a:lstStyle/>
          <a:p>
            <a:pPr marL="0" indent="0">
              <a:buNone/>
            </a:pPr>
            <a:r>
              <a:rPr lang="en-US" sz="1800" b="1" dirty="0">
                <a:solidFill>
                  <a:srgbClr val="1F4E79"/>
                </a:solidFill>
              </a:rPr>
              <a:t>Questions the project answers</a:t>
            </a:r>
            <a:endParaRPr lang="en-US" sz="1800" dirty="0"/>
          </a:p>
        </p:txBody>
      </p:sp>
      <p:sp>
        <p:nvSpPr>
          <p:cNvPr id="6" name="Text 4"/>
          <p:cNvSpPr txBox="1"/>
          <p:nvPr/>
        </p:nvSpPr>
        <p:spPr>
          <a:xfrm>
            <a:off x="548640" y="3200400"/>
            <a:ext cx="6035040" cy="201168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600" dirty="0">
                <a:solidFill>
                  <a:srgbClr val="1F2933"/>
                </a:solidFill>
              </a:rPr>
              <a:t>How much supply is genuinely active?</a:t>
            </a:r>
            <a:endParaRPr lang="en-US" sz="1600" dirty="0"/>
          </a:p>
          <a:p>
            <a:pPr marL="342900" indent="-342900">
              <a:spcAft>
                <a:spcPts val="800"/>
              </a:spcAft>
              <a:buSzPct val="100000"/>
              <a:buFont typeface="+mj-lt"/>
              <a:buAutoNum type="arabicPeriod"/>
            </a:pPr>
            <a:r>
              <a:rPr lang="en-US" sz="1600" dirty="0">
                <a:solidFill>
                  <a:srgbClr val="1F2933"/>
                </a:solidFill>
              </a:rPr>
              <a:t>How has regulation changed demand?</a:t>
            </a:r>
            <a:endParaRPr lang="en-US" sz="1600" dirty="0"/>
          </a:p>
          <a:p>
            <a:pPr marL="342900" indent="-342900">
              <a:spcAft>
                <a:spcPts val="800"/>
              </a:spcAft>
              <a:buSzPct val="100000"/>
              <a:buFont typeface="+mj-lt"/>
              <a:buAutoNum type="arabicPeriod"/>
            </a:pPr>
            <a:r>
              <a:rPr lang="en-US" sz="1600" dirty="0">
                <a:solidFill>
                  <a:srgbClr val="1F2933"/>
                </a:solidFill>
              </a:rPr>
              <a:t>Which hosts and areas carry the business?</a:t>
            </a:r>
            <a:endParaRPr lang="en-US" sz="1600" dirty="0"/>
          </a:p>
          <a:p>
            <a:pPr marL="342900" indent="-342900">
              <a:spcAft>
                <a:spcPts val="800"/>
              </a:spcAft>
              <a:buSzPct val="100000"/>
              <a:buFont typeface="+mj-lt"/>
              <a:buAutoNum type="arabicPeriod"/>
            </a:pPr>
            <a:r>
              <a:rPr lang="en-US" sz="1600" dirty="0">
                <a:solidFill>
                  <a:srgbClr val="1F2933"/>
                </a:solidFill>
              </a:rPr>
              <a:t>What should managers do next?</a:t>
            </a:r>
            <a:endParaRPr lang="en-US" sz="1600" dirty="0"/>
          </a:p>
        </p:txBody>
      </p:sp>
      <p:sp>
        <p:nvSpPr>
          <p:cNvPr id="7" name="Shape 5"/>
          <p:cNvSpPr/>
          <p:nvPr/>
        </p:nvSpPr>
        <p:spPr>
          <a:xfrm>
            <a:off x="7223760" y="1325880"/>
            <a:ext cx="4416552" cy="1371600"/>
          </a:xfrm>
          <a:prstGeom prst="roundRect">
            <a:avLst>
              <a:gd name="adj" fmla="val 8000"/>
            </a:avLst>
          </a:prstGeom>
          <a:solidFill>
            <a:srgbClr val="EAF2FB"/>
          </a:solidFill>
          <a:ln w="12700">
            <a:solidFill>
              <a:srgbClr val="EAF2FB"/>
            </a:solidFill>
            <a:prstDash val="solid"/>
          </a:ln>
        </p:spPr>
      </p:sp>
      <p:sp>
        <p:nvSpPr>
          <p:cNvPr id="8" name="Text 6"/>
          <p:cNvSpPr txBox="1"/>
          <p:nvPr/>
        </p:nvSpPr>
        <p:spPr>
          <a:xfrm>
            <a:off x="7452360" y="1435608"/>
            <a:ext cx="3959352" cy="713232"/>
          </a:xfrm>
          <a:prstGeom prst="rect">
            <a:avLst/>
          </a:prstGeom>
          <a:noFill/>
          <a:ln/>
        </p:spPr>
        <p:txBody>
          <a:bodyPr wrap="square" lIns="0" tIns="0" rIns="0" bIns="0" rtlCol="0" anchor="b"/>
          <a:lstStyle/>
          <a:p>
            <a:pPr marL="0" indent="0">
              <a:buNone/>
            </a:pPr>
            <a:r>
              <a:rPr lang="en-US" sz="3000" b="1" dirty="0">
                <a:solidFill>
                  <a:srgbClr val="1F4E79"/>
                </a:solidFill>
              </a:rPr>
              <a:t>121,872</a:t>
            </a:r>
            <a:endParaRPr lang="en-US" sz="3000" dirty="0"/>
          </a:p>
        </p:txBody>
      </p:sp>
      <p:sp>
        <p:nvSpPr>
          <p:cNvPr id="9" name="Text 7"/>
          <p:cNvSpPr txBox="1"/>
          <p:nvPr/>
        </p:nvSpPr>
        <p:spPr>
          <a:xfrm>
            <a:off x="7452360" y="2121408"/>
            <a:ext cx="3959352" cy="521208"/>
          </a:xfrm>
          <a:prstGeom prst="rect">
            <a:avLst/>
          </a:prstGeom>
          <a:noFill/>
          <a:ln/>
        </p:spPr>
        <p:txBody>
          <a:bodyPr wrap="square" lIns="0" tIns="0" rIns="0" bIns="0" rtlCol="0" anchor="t"/>
          <a:lstStyle/>
          <a:p>
            <a:pPr marL="0" indent="0">
              <a:buNone/>
            </a:pPr>
            <a:r>
              <a:rPr lang="en-US" sz="1400" dirty="0">
                <a:solidFill>
                  <a:srgbClr val="1F2933"/>
                </a:solidFill>
              </a:rPr>
              <a:t>listings (29,918 New York, 91,954 London)</a:t>
            </a:r>
            <a:endParaRPr lang="en-US" sz="1400" dirty="0"/>
          </a:p>
        </p:txBody>
      </p:sp>
      <p:sp>
        <p:nvSpPr>
          <p:cNvPr id="10" name="Shape 8"/>
          <p:cNvSpPr/>
          <p:nvPr/>
        </p:nvSpPr>
        <p:spPr>
          <a:xfrm>
            <a:off x="7223760" y="2880360"/>
            <a:ext cx="4416552" cy="1371600"/>
          </a:xfrm>
          <a:prstGeom prst="roundRect">
            <a:avLst>
              <a:gd name="adj" fmla="val 8000"/>
            </a:avLst>
          </a:prstGeom>
          <a:solidFill>
            <a:srgbClr val="EAF2FB"/>
          </a:solidFill>
          <a:ln w="12700">
            <a:solidFill>
              <a:srgbClr val="EAF2FB"/>
            </a:solidFill>
            <a:prstDash val="solid"/>
          </a:ln>
        </p:spPr>
      </p:sp>
      <p:sp>
        <p:nvSpPr>
          <p:cNvPr id="11" name="Text 9"/>
          <p:cNvSpPr txBox="1"/>
          <p:nvPr/>
        </p:nvSpPr>
        <p:spPr>
          <a:xfrm>
            <a:off x="7452360" y="2990088"/>
            <a:ext cx="3959352" cy="713232"/>
          </a:xfrm>
          <a:prstGeom prst="rect">
            <a:avLst/>
          </a:prstGeom>
          <a:noFill/>
          <a:ln/>
        </p:spPr>
        <p:txBody>
          <a:bodyPr wrap="square" lIns="0" tIns="0" rIns="0" bIns="0" rtlCol="0" anchor="b"/>
          <a:lstStyle/>
          <a:p>
            <a:pPr marL="0" indent="0">
              <a:buNone/>
            </a:pPr>
            <a:r>
              <a:rPr lang="en-US" sz="3000" b="1" dirty="0">
                <a:solidFill>
                  <a:srgbClr val="1F4E79"/>
                </a:solidFill>
              </a:rPr>
              <a:t>3.32 million</a:t>
            </a:r>
            <a:endParaRPr lang="en-US" sz="3000" dirty="0"/>
          </a:p>
        </p:txBody>
      </p:sp>
      <p:sp>
        <p:nvSpPr>
          <p:cNvPr id="12" name="Text 10"/>
          <p:cNvSpPr txBox="1"/>
          <p:nvPr/>
        </p:nvSpPr>
        <p:spPr>
          <a:xfrm>
            <a:off x="7452360" y="3675888"/>
            <a:ext cx="3959352" cy="521208"/>
          </a:xfrm>
          <a:prstGeom prst="rect">
            <a:avLst/>
          </a:prstGeom>
          <a:noFill/>
          <a:ln/>
        </p:spPr>
        <p:txBody>
          <a:bodyPr wrap="square" lIns="0" tIns="0" rIns="0" bIns="0" rtlCol="0" anchor="t"/>
          <a:lstStyle/>
          <a:p>
            <a:pPr marL="0" indent="0">
              <a:buNone/>
            </a:pPr>
            <a:r>
              <a:rPr lang="en-US" sz="1400" dirty="0">
                <a:solidFill>
                  <a:srgbClr val="1F2933"/>
                </a:solidFill>
              </a:rPr>
              <a:t>guest reviews, 2009 to Sep 2026</a:t>
            </a:r>
            <a:endParaRPr lang="en-US" sz="1400" dirty="0"/>
          </a:p>
        </p:txBody>
      </p:sp>
      <p:sp>
        <p:nvSpPr>
          <p:cNvPr id="13" name="Shape 11"/>
          <p:cNvSpPr/>
          <p:nvPr/>
        </p:nvSpPr>
        <p:spPr>
          <a:xfrm>
            <a:off x="7223760" y="4434840"/>
            <a:ext cx="4416552" cy="1371600"/>
          </a:xfrm>
          <a:prstGeom prst="roundRect">
            <a:avLst>
              <a:gd name="adj" fmla="val 8000"/>
            </a:avLst>
          </a:prstGeom>
          <a:solidFill>
            <a:srgbClr val="EAF2FB"/>
          </a:solidFill>
          <a:ln w="12700">
            <a:solidFill>
              <a:srgbClr val="EAF2FB"/>
            </a:solidFill>
            <a:prstDash val="solid"/>
          </a:ln>
        </p:spPr>
      </p:sp>
      <p:sp>
        <p:nvSpPr>
          <p:cNvPr id="14" name="Text 12"/>
          <p:cNvSpPr txBox="1"/>
          <p:nvPr/>
        </p:nvSpPr>
        <p:spPr>
          <a:xfrm>
            <a:off x="7452360" y="4544568"/>
            <a:ext cx="3959352" cy="713232"/>
          </a:xfrm>
          <a:prstGeom prst="rect">
            <a:avLst/>
          </a:prstGeom>
          <a:noFill/>
          <a:ln/>
        </p:spPr>
        <p:txBody>
          <a:bodyPr wrap="square" lIns="0" tIns="0" rIns="0" bIns="0" rtlCol="0" anchor="b"/>
          <a:lstStyle/>
          <a:p>
            <a:pPr marL="0" indent="0">
              <a:buNone/>
            </a:pPr>
            <a:r>
              <a:rPr lang="en-US" sz="3000" b="1" dirty="0">
                <a:solidFill>
                  <a:srgbClr val="1F4E79"/>
                </a:solidFill>
              </a:rPr>
              <a:t>Sep 2026</a:t>
            </a:r>
            <a:endParaRPr lang="en-US" sz="3000" dirty="0"/>
          </a:p>
        </p:txBody>
      </p:sp>
      <p:sp>
        <p:nvSpPr>
          <p:cNvPr id="15" name="Text 13"/>
          <p:cNvSpPr txBox="1"/>
          <p:nvPr/>
        </p:nvSpPr>
        <p:spPr>
          <a:xfrm>
            <a:off x="7452360" y="5230368"/>
            <a:ext cx="3959352" cy="521208"/>
          </a:xfrm>
          <a:prstGeom prst="rect">
            <a:avLst/>
          </a:prstGeom>
          <a:noFill/>
          <a:ln/>
        </p:spPr>
        <p:txBody>
          <a:bodyPr wrap="square" lIns="0" tIns="0" rIns="0" bIns="0" rtlCol="0" anchor="t"/>
          <a:lstStyle/>
          <a:p>
            <a:pPr marL="0" indent="0">
              <a:buNone/>
            </a:pPr>
            <a:r>
              <a:rPr lang="en-US" sz="1400" dirty="0">
                <a:solidFill>
                  <a:srgbClr val="1F2933"/>
                </a:solidFill>
              </a:rPr>
              <a:t>Inside Airbnb snapshots, prices in USD (GBP x 1.3371)</a:t>
            </a:r>
            <a:endParaRPr lang="en-US" sz="1400" dirty="0"/>
          </a:p>
        </p:txBody>
      </p:sp>
      <p:sp>
        <p:nvSpPr>
          <p:cNvPr id="16" name="Text 14"/>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rgbClr val="595959"/>
                </a:solidFill>
              </a:rPr>
              <a:t>Source: Inside Airbnb (2026); Mayfield et al. (2016) on Airbnb's Hadoop platform.</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ELT lands raw data first, then transforms it inside MySQL</a:t>
            </a:r>
            <a:endParaRPr lang="en-US" sz="2600" dirty="0"/>
          </a:p>
        </p:txBody>
      </p:sp>
      <p:pic>
        <p:nvPicPr>
          <p:cNvPr id="3" name="Image 0" descr="/home/claude/rep/img/f_pipeline.png"/>
          <p:cNvPicPr>
            <a:picLocks noChangeAspect="1"/>
          </p:cNvPicPr>
          <p:nvPr/>
        </p:nvPicPr>
        <p:blipFill>
          <a:blip r:embed="rId3"/>
          <a:stretch>
            <a:fillRect/>
          </a:stretch>
        </p:blipFill>
        <p:spPr>
          <a:xfrm>
            <a:off x="1143000" y="1234440"/>
            <a:ext cx="9875520" cy="4260759"/>
          </a:xfrm>
          <a:prstGeom prst="rect">
            <a:avLst/>
          </a:prstGeom>
        </p:spPr>
      </p:pic>
      <p:sp>
        <p:nvSpPr>
          <p:cNvPr id="4" name="Shape 1"/>
          <p:cNvSpPr/>
          <p:nvPr/>
        </p:nvSpPr>
        <p:spPr>
          <a:xfrm>
            <a:off x="548640" y="5532120"/>
            <a:ext cx="3593592" cy="457200"/>
          </a:xfrm>
          <a:prstGeom prst="roundRect">
            <a:avLst>
              <a:gd name="adj" fmla="val 16000"/>
            </a:avLst>
          </a:prstGeom>
          <a:solidFill>
            <a:srgbClr val="EAF2FB"/>
          </a:solidFill>
          <a:ln w="12700">
            <a:solidFill>
              <a:srgbClr val="EAF2FB"/>
            </a:solidFill>
            <a:prstDash val="solid"/>
          </a:ln>
        </p:spPr>
      </p:sp>
      <p:sp>
        <p:nvSpPr>
          <p:cNvPr id="5" name="Text 2"/>
          <p:cNvSpPr txBox="1"/>
          <p:nvPr/>
        </p:nvSpPr>
        <p:spPr>
          <a:xfrm>
            <a:off x="685800" y="5532120"/>
            <a:ext cx="3383280" cy="457200"/>
          </a:xfrm>
          <a:prstGeom prst="rect">
            <a:avLst/>
          </a:prstGeom>
          <a:noFill/>
          <a:ln/>
        </p:spPr>
        <p:txBody>
          <a:bodyPr wrap="square" lIns="0" tIns="0" rIns="0" bIns="0" rtlCol="0" anchor="ctr"/>
          <a:lstStyle/>
          <a:p>
            <a:pPr marL="0" indent="0">
              <a:buNone/>
            </a:pPr>
            <a:r>
              <a:rPr lang="en-US" sz="1400" b="1" dirty="0">
                <a:solidFill>
                  <a:srgbClr val="1F4E79"/>
                </a:solidFill>
              </a:rPr>
              <a:t>Raw storage:  </a:t>
            </a:r>
            <a:r>
              <a:rPr lang="en-US" sz="1400" dirty="0">
                <a:solidFill>
                  <a:srgbClr val="1F2933"/>
                </a:solidFill>
              </a:rPr>
              <a:t>CSV upload folder  =  HDFS / S3</a:t>
            </a:r>
            <a:endParaRPr lang="en-US" sz="1400" dirty="0"/>
          </a:p>
        </p:txBody>
      </p:sp>
      <p:sp>
        <p:nvSpPr>
          <p:cNvPr id="6" name="Shape 3"/>
          <p:cNvSpPr/>
          <p:nvPr/>
        </p:nvSpPr>
        <p:spPr>
          <a:xfrm>
            <a:off x="4297680" y="5532120"/>
            <a:ext cx="3593592" cy="457200"/>
          </a:xfrm>
          <a:prstGeom prst="roundRect">
            <a:avLst>
              <a:gd name="adj" fmla="val 16000"/>
            </a:avLst>
          </a:prstGeom>
          <a:solidFill>
            <a:srgbClr val="EAF2FB"/>
          </a:solidFill>
          <a:ln w="12700">
            <a:solidFill>
              <a:srgbClr val="EAF2FB"/>
            </a:solidFill>
            <a:prstDash val="solid"/>
          </a:ln>
        </p:spPr>
      </p:sp>
      <p:sp>
        <p:nvSpPr>
          <p:cNvPr id="7" name="Text 4"/>
          <p:cNvSpPr txBox="1"/>
          <p:nvPr/>
        </p:nvSpPr>
        <p:spPr>
          <a:xfrm>
            <a:off x="4434840" y="5532120"/>
            <a:ext cx="3383280" cy="457200"/>
          </a:xfrm>
          <a:prstGeom prst="rect">
            <a:avLst/>
          </a:prstGeom>
          <a:noFill/>
          <a:ln/>
        </p:spPr>
        <p:txBody>
          <a:bodyPr wrap="square" lIns="0" tIns="0" rIns="0" bIns="0" rtlCol="0" anchor="ctr"/>
          <a:lstStyle/>
          <a:p>
            <a:pPr marL="0" indent="0">
              <a:buNone/>
            </a:pPr>
            <a:r>
              <a:rPr lang="en-US" sz="1400" b="1" dirty="0">
                <a:solidFill>
                  <a:srgbClr val="1F4E79"/>
                </a:solidFill>
              </a:rPr>
              <a:t>Transform:  </a:t>
            </a:r>
            <a:r>
              <a:rPr lang="en-US" sz="1400" dirty="0">
                <a:solidFill>
                  <a:srgbClr val="1F2933"/>
                </a:solidFill>
              </a:rPr>
              <a:t>MySQL SQL  =  Hive / Spark</a:t>
            </a:r>
            <a:endParaRPr lang="en-US" sz="1400" dirty="0"/>
          </a:p>
        </p:txBody>
      </p:sp>
      <p:sp>
        <p:nvSpPr>
          <p:cNvPr id="8" name="Shape 5"/>
          <p:cNvSpPr/>
          <p:nvPr/>
        </p:nvSpPr>
        <p:spPr>
          <a:xfrm>
            <a:off x="8046720" y="5532120"/>
            <a:ext cx="3593592" cy="457200"/>
          </a:xfrm>
          <a:prstGeom prst="roundRect">
            <a:avLst>
              <a:gd name="adj" fmla="val 16000"/>
            </a:avLst>
          </a:prstGeom>
          <a:solidFill>
            <a:srgbClr val="EAF2FB"/>
          </a:solidFill>
          <a:ln w="12700">
            <a:solidFill>
              <a:srgbClr val="EAF2FB"/>
            </a:solidFill>
            <a:prstDash val="solid"/>
          </a:ln>
        </p:spPr>
      </p:sp>
      <p:sp>
        <p:nvSpPr>
          <p:cNvPr id="9" name="Text 6"/>
          <p:cNvSpPr txBox="1"/>
          <p:nvPr/>
        </p:nvSpPr>
        <p:spPr>
          <a:xfrm>
            <a:off x="8183880" y="5532120"/>
            <a:ext cx="3383280" cy="457200"/>
          </a:xfrm>
          <a:prstGeom prst="rect">
            <a:avLst/>
          </a:prstGeom>
          <a:noFill/>
          <a:ln/>
        </p:spPr>
        <p:txBody>
          <a:bodyPr wrap="square" lIns="0" tIns="0" rIns="0" bIns="0" rtlCol="0" anchor="ctr"/>
          <a:lstStyle/>
          <a:p>
            <a:pPr marL="0" indent="0">
              <a:buNone/>
            </a:pPr>
            <a:r>
              <a:rPr lang="en-US" sz="1400" b="1" dirty="0">
                <a:solidFill>
                  <a:srgbClr val="1F4E79"/>
                </a:solidFill>
              </a:rPr>
              <a:t>Scheduling:  </a:t>
            </a:r>
            <a:r>
              <a:rPr lang="en-US" sz="1400" dirty="0">
                <a:solidFill>
                  <a:srgbClr val="1F2933"/>
                </a:solidFill>
              </a:rPr>
              <a:t>MySQL EVENT  =  Apache Airflow</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Twelve logged cleaning rules feed a star schema built for analysis</a:t>
            </a:r>
            <a:endParaRPr lang="en-US" sz="2600" dirty="0"/>
          </a:p>
        </p:txBody>
      </p:sp>
      <p:pic>
        <p:nvPicPr>
          <p:cNvPr id="3" name="Image 0" descr="/home/claude/rep/img/f_star.png"/>
          <p:cNvPicPr>
            <a:picLocks noChangeAspect="1"/>
          </p:cNvPicPr>
          <p:nvPr/>
        </p:nvPicPr>
        <p:blipFill>
          <a:blip r:embed="rId3"/>
          <a:stretch>
            <a:fillRect/>
          </a:stretch>
        </p:blipFill>
        <p:spPr>
          <a:xfrm>
            <a:off x="548640" y="1371600"/>
            <a:ext cx="6583680" cy="3431772"/>
          </a:xfrm>
          <a:prstGeom prst="rect">
            <a:avLst/>
          </a:prstGeom>
        </p:spPr>
      </p:pic>
      <p:sp>
        <p:nvSpPr>
          <p:cNvPr id="4" name="Shape 1"/>
          <p:cNvSpPr/>
          <p:nvPr/>
        </p:nvSpPr>
        <p:spPr>
          <a:xfrm>
            <a:off x="7589520" y="1325880"/>
            <a:ext cx="4050792" cy="1325880"/>
          </a:xfrm>
          <a:prstGeom prst="roundRect">
            <a:avLst>
              <a:gd name="adj" fmla="val 8276"/>
            </a:avLst>
          </a:prstGeom>
          <a:solidFill>
            <a:srgbClr val="EAF2FB"/>
          </a:solidFill>
          <a:ln w="12700">
            <a:solidFill>
              <a:srgbClr val="EAF2FB"/>
            </a:solidFill>
            <a:prstDash val="solid"/>
          </a:ln>
        </p:spPr>
      </p:sp>
      <p:sp>
        <p:nvSpPr>
          <p:cNvPr id="5" name="Text 2"/>
          <p:cNvSpPr txBox="1"/>
          <p:nvPr/>
        </p:nvSpPr>
        <p:spPr>
          <a:xfrm>
            <a:off x="7818120" y="1435608"/>
            <a:ext cx="3593592" cy="689458"/>
          </a:xfrm>
          <a:prstGeom prst="rect">
            <a:avLst/>
          </a:prstGeom>
          <a:noFill/>
          <a:ln/>
        </p:spPr>
        <p:txBody>
          <a:bodyPr wrap="square" lIns="0" tIns="0" rIns="0" bIns="0" rtlCol="0" anchor="b"/>
          <a:lstStyle/>
          <a:p>
            <a:pPr marL="0" indent="0">
              <a:buNone/>
            </a:pPr>
            <a:r>
              <a:rPr lang="en-US" sz="3000" b="1" dirty="0">
                <a:solidFill>
                  <a:srgbClr val="1F4E79"/>
                </a:solidFill>
              </a:rPr>
              <a:t>42,561</a:t>
            </a:r>
            <a:endParaRPr lang="en-US" sz="3000" dirty="0"/>
          </a:p>
        </p:txBody>
      </p:sp>
      <p:sp>
        <p:nvSpPr>
          <p:cNvPr id="6" name="Text 3"/>
          <p:cNvSpPr txBox="1"/>
          <p:nvPr/>
        </p:nvSpPr>
        <p:spPr>
          <a:xfrm>
            <a:off x="7818120" y="2094890"/>
            <a:ext cx="3593592" cy="503834"/>
          </a:xfrm>
          <a:prstGeom prst="rect">
            <a:avLst/>
          </a:prstGeom>
          <a:noFill/>
          <a:ln/>
        </p:spPr>
        <p:txBody>
          <a:bodyPr wrap="square" lIns="0" tIns="0" rIns="0" bIns="0" rtlCol="0" anchor="t"/>
          <a:lstStyle/>
          <a:p>
            <a:pPr marL="0" indent="0">
              <a:buNone/>
            </a:pPr>
            <a:r>
              <a:rPr lang="en-US" sz="1400" dirty="0">
                <a:solidFill>
                  <a:srgbClr val="1F2933"/>
                </a:solidFill>
              </a:rPr>
              <a:t>listings with no price kept and flagged, not deleted</a:t>
            </a:r>
            <a:endParaRPr lang="en-US" sz="1400" dirty="0"/>
          </a:p>
        </p:txBody>
      </p:sp>
      <p:sp>
        <p:nvSpPr>
          <p:cNvPr id="7" name="Shape 4"/>
          <p:cNvSpPr/>
          <p:nvPr/>
        </p:nvSpPr>
        <p:spPr>
          <a:xfrm>
            <a:off x="7589520" y="2788920"/>
            <a:ext cx="4050792" cy="1325880"/>
          </a:xfrm>
          <a:prstGeom prst="roundRect">
            <a:avLst>
              <a:gd name="adj" fmla="val 8276"/>
            </a:avLst>
          </a:prstGeom>
          <a:solidFill>
            <a:srgbClr val="EAF2FB"/>
          </a:solidFill>
          <a:ln w="12700">
            <a:solidFill>
              <a:srgbClr val="EAF2FB"/>
            </a:solidFill>
            <a:prstDash val="solid"/>
          </a:ln>
        </p:spPr>
      </p:sp>
      <p:sp>
        <p:nvSpPr>
          <p:cNvPr id="8" name="Text 5"/>
          <p:cNvSpPr txBox="1"/>
          <p:nvPr/>
        </p:nvSpPr>
        <p:spPr>
          <a:xfrm>
            <a:off x="7818120" y="2898648"/>
            <a:ext cx="3593592" cy="689458"/>
          </a:xfrm>
          <a:prstGeom prst="rect">
            <a:avLst/>
          </a:prstGeom>
          <a:noFill/>
          <a:ln/>
        </p:spPr>
        <p:txBody>
          <a:bodyPr wrap="square" lIns="0" tIns="0" rIns="0" bIns="0" rtlCol="0" anchor="b"/>
          <a:lstStyle/>
          <a:p>
            <a:pPr marL="0" indent="0">
              <a:buNone/>
            </a:pPr>
            <a:r>
              <a:rPr lang="en-US" sz="3000" b="1" dirty="0">
                <a:solidFill>
                  <a:srgbClr val="1F4E79"/>
                </a:solidFill>
              </a:rPr>
              <a:t>793</a:t>
            </a:r>
            <a:endParaRPr lang="en-US" sz="3000" dirty="0"/>
          </a:p>
        </p:txBody>
      </p:sp>
      <p:sp>
        <p:nvSpPr>
          <p:cNvPr id="9" name="Text 6"/>
          <p:cNvSpPr txBox="1"/>
          <p:nvPr/>
        </p:nvSpPr>
        <p:spPr>
          <a:xfrm>
            <a:off x="7818120" y="3557930"/>
            <a:ext cx="3593592" cy="503834"/>
          </a:xfrm>
          <a:prstGeom prst="rect">
            <a:avLst/>
          </a:prstGeom>
          <a:noFill/>
          <a:ln/>
        </p:spPr>
        <p:txBody>
          <a:bodyPr wrap="square" lIns="0" tIns="0" rIns="0" bIns="0" rtlCol="0" anchor="t"/>
          <a:lstStyle/>
          <a:p>
            <a:pPr marL="0" indent="0">
              <a:buNone/>
            </a:pPr>
            <a:r>
              <a:rPr lang="en-US" sz="1400" dirty="0">
                <a:solidFill>
                  <a:srgbClr val="1F2933"/>
                </a:solidFill>
              </a:rPr>
              <a:t>price outliers above the city 99th percentile left out of price KPIs</a:t>
            </a:r>
            <a:endParaRPr lang="en-US" sz="1400" dirty="0"/>
          </a:p>
        </p:txBody>
      </p:sp>
      <p:sp>
        <p:nvSpPr>
          <p:cNvPr id="10" name="Shape 7"/>
          <p:cNvSpPr/>
          <p:nvPr/>
        </p:nvSpPr>
        <p:spPr>
          <a:xfrm>
            <a:off x="7589520" y="4251960"/>
            <a:ext cx="4050792" cy="1325880"/>
          </a:xfrm>
          <a:prstGeom prst="roundRect">
            <a:avLst>
              <a:gd name="adj" fmla="val 8276"/>
            </a:avLst>
          </a:prstGeom>
          <a:solidFill>
            <a:srgbClr val="EAF2FB"/>
          </a:solidFill>
          <a:ln w="12700">
            <a:solidFill>
              <a:srgbClr val="EAF2FB"/>
            </a:solidFill>
            <a:prstDash val="solid"/>
          </a:ln>
        </p:spPr>
      </p:sp>
      <p:sp>
        <p:nvSpPr>
          <p:cNvPr id="11" name="Text 8"/>
          <p:cNvSpPr txBox="1"/>
          <p:nvPr/>
        </p:nvSpPr>
        <p:spPr>
          <a:xfrm>
            <a:off x="7818120" y="4361688"/>
            <a:ext cx="3593592" cy="689458"/>
          </a:xfrm>
          <a:prstGeom prst="rect">
            <a:avLst/>
          </a:prstGeom>
          <a:noFill/>
          <a:ln/>
        </p:spPr>
        <p:txBody>
          <a:bodyPr wrap="square" lIns="0" tIns="0" rIns="0" bIns="0" rtlCol="0" anchor="b"/>
          <a:lstStyle/>
          <a:p>
            <a:pPr marL="0" indent="0">
              <a:buNone/>
            </a:pPr>
            <a:r>
              <a:rPr lang="en-US" sz="3000" b="1" dirty="0">
                <a:solidFill>
                  <a:srgbClr val="1F4E79"/>
                </a:solidFill>
              </a:rPr>
              <a:t>0 rows</a:t>
            </a:r>
            <a:endParaRPr lang="en-US" sz="3000" dirty="0"/>
          </a:p>
        </p:txBody>
      </p:sp>
      <p:sp>
        <p:nvSpPr>
          <p:cNvPr id="12" name="Text 9"/>
          <p:cNvSpPr txBox="1"/>
          <p:nvPr/>
        </p:nvSpPr>
        <p:spPr>
          <a:xfrm>
            <a:off x="7818120" y="5020970"/>
            <a:ext cx="3593592" cy="503834"/>
          </a:xfrm>
          <a:prstGeom prst="rect">
            <a:avLst/>
          </a:prstGeom>
          <a:noFill/>
          <a:ln/>
        </p:spPr>
        <p:txBody>
          <a:bodyPr wrap="square" lIns="0" tIns="0" rIns="0" bIns="0" rtlCol="0" anchor="t"/>
          <a:lstStyle/>
          <a:p>
            <a:pPr marL="0" indent="0">
              <a:buNone/>
            </a:pPr>
            <a:r>
              <a:rPr lang="en-US" sz="1400" dirty="0">
                <a:solidFill>
                  <a:srgbClr val="1F2933"/>
                </a:solidFill>
              </a:rPr>
              <a:t>dropped silently: every rule logs its count in data_quality_log</a:t>
            </a:r>
            <a:endParaRPr lang="en-US" sz="1400" dirty="0"/>
          </a:p>
        </p:txBody>
      </p:sp>
      <p:sp>
        <p:nvSpPr>
          <p:cNvPr id="13" name="Text 10"/>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rgbClr val="595959"/>
                </a:solidFill>
              </a:rPr>
              <a:t>Source: author's data_quality_log on the full dataset; design follows Kimball &amp; Ross (2013).</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Advanced SQL defines each KPI once and answers sixteen business questions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400800" cy="3407664"/>
        </p:xfrm>
        <a:graphic>
          <a:graphicData uri="http://schemas.openxmlformats.org/drawingml/2006/table">
            <a:tbl>
              <a:tblPr/>
              <a:tblGrid>
                <a:gridCol w="31089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66928">
                <a:tc>
                  <a:txBody>
                    <a:bodyPr/>
                    <a:lstStyle/>
                    <a:p>
                      <a:pPr marL="0" indent="0">
                        <a:buNone/>
                      </a:pPr>
                      <a:r>
                        <a:rPr lang="en-US" sz="1400" b="1" dirty="0">
                          <a:solidFill>
                            <a:srgbClr val="FFFFFF"/>
                          </a:solidFill>
                        </a:rPr>
                        <a:t>SQL technique</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rPr>
                        <a:t>Business question</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rgbClr val="1F2933"/>
                          </a:solidFill>
                        </a:rPr>
                        <a:t>Joins across five dimensions</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1F2933"/>
                          </a:solidFill>
                        </a:rPr>
                        <a:t>Which boroughs earn the most?</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dirty="0">
                          <a:solidFill>
                            <a:srgbClr val="1F2933"/>
                          </a:solidFill>
                        </a:rPr>
                        <a:t>CTE + ROW_NUMBER window</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1F2933"/>
                          </a:solidFill>
                        </a:rPr>
                        <a:t>What is a typical (median) price?</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dirty="0">
                          <a:solidFill>
                            <a:srgbClr val="1F2933"/>
                          </a:solidFill>
                        </a:rPr>
                        <a:t>LAG and rolling 12-month sums</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1F2933"/>
                          </a:solidFill>
                        </a:rPr>
                        <a:t>How did demand react to Local Law 18?</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dirty="0">
                          <a:solidFill>
                            <a:srgbClr val="1F2933"/>
                          </a:solidFill>
                        </a:rPr>
                        <a:t>NTILE and Pareto running share</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1F2933"/>
                          </a:solidFill>
                        </a:rPr>
                        <a:t>Do a few hosts and areas dominate?</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400" dirty="0">
                          <a:solidFill>
                            <a:srgbClr val="1F2933"/>
                          </a:solidFill>
                        </a:rPr>
                        <a:t>Prepared statements, stored procedures</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400" dirty="0">
                          <a:solidFill>
                            <a:srgbClr val="1F2933"/>
                          </a:solidFill>
                        </a:rPr>
                        <a:t>Same report for any city, room type or price band</a:t>
                      </a:r>
                      <a:endParaRPr lang="en-US" sz="1400" dirty="0"/>
                    </a:p>
                  </a:txBody>
                  <a:tcPr marL="73152" marR="73152" marT="73152" marB="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txBox="1"/>
          <p:nvPr/>
        </p:nvSpPr>
        <p:spPr>
          <a:xfrm>
            <a:off x="7406640" y="1325880"/>
            <a:ext cx="4206240" cy="365760"/>
          </a:xfrm>
          <a:prstGeom prst="rect">
            <a:avLst/>
          </a:prstGeom>
          <a:noFill/>
          <a:ln/>
        </p:spPr>
        <p:txBody>
          <a:bodyPr wrap="square" lIns="0" tIns="0" rIns="0" bIns="0" rtlCol="0" anchor="ctr"/>
          <a:lstStyle/>
          <a:p>
            <a:pPr marL="0" indent="0">
              <a:buNone/>
            </a:pPr>
            <a:r>
              <a:rPr lang="en-US" sz="1800" b="1" dirty="0">
                <a:solidFill>
                  <a:srgbClr val="1F4E79"/>
                </a:solidFill>
              </a:rPr>
              <a:t>KPIs tracked</a:t>
            </a:r>
            <a:endParaRPr lang="en-US" sz="1800" dirty="0"/>
          </a:p>
        </p:txBody>
      </p:sp>
      <p:sp>
        <p:nvSpPr>
          <p:cNvPr id="5" name="Shape 2"/>
          <p:cNvSpPr/>
          <p:nvPr/>
        </p:nvSpPr>
        <p:spPr>
          <a:xfrm>
            <a:off x="7406640" y="1783080"/>
            <a:ext cx="4233672" cy="457200"/>
          </a:xfrm>
          <a:prstGeom prst="roundRect">
            <a:avLst>
              <a:gd name="adj" fmla="val 16000"/>
            </a:avLst>
          </a:prstGeom>
          <a:solidFill>
            <a:srgbClr val="EAF2FB"/>
          </a:solidFill>
          <a:ln w="12700">
            <a:solidFill>
              <a:srgbClr val="EAF2FB"/>
            </a:solidFill>
            <a:prstDash val="solid"/>
          </a:ln>
        </p:spPr>
      </p:sp>
      <p:sp>
        <p:nvSpPr>
          <p:cNvPr id="3" name="Text 3"/>
          <p:cNvSpPr txBox="1"/>
          <p:nvPr/>
        </p:nvSpPr>
        <p:spPr>
          <a:xfrm>
            <a:off x="7543800" y="1783080"/>
            <a:ext cx="4023360" cy="457200"/>
          </a:xfrm>
          <a:prstGeom prst="rect">
            <a:avLst/>
          </a:prstGeom>
          <a:noFill/>
          <a:ln/>
        </p:spPr>
        <p:txBody>
          <a:bodyPr wrap="square" lIns="0" tIns="0" rIns="0" bIns="0" rtlCol="0" anchor="ctr"/>
          <a:lstStyle/>
          <a:p>
            <a:pPr marL="0" indent="0">
              <a:buNone/>
            </a:pPr>
            <a:r>
              <a:rPr lang="en-US" sz="1400" b="1" dirty="0">
                <a:solidFill>
                  <a:srgbClr val="1F2933"/>
                </a:solidFill>
              </a:rPr>
              <a:t>Active %</a:t>
            </a:r>
            <a:r>
              <a:rPr lang="en-US" sz="1400" dirty="0">
                <a:solidFill>
                  <a:srgbClr val="B22222"/>
                </a:solidFill>
              </a:rPr>
              <a:t>   target 50%</a:t>
            </a:r>
            <a:endParaRPr lang="en-US" sz="1400" dirty="0"/>
          </a:p>
        </p:txBody>
      </p:sp>
      <p:sp>
        <p:nvSpPr>
          <p:cNvPr id="7" name="Shape 4"/>
          <p:cNvSpPr/>
          <p:nvPr/>
        </p:nvSpPr>
        <p:spPr>
          <a:xfrm>
            <a:off x="7406640" y="2331720"/>
            <a:ext cx="4233672" cy="457200"/>
          </a:xfrm>
          <a:prstGeom prst="roundRect">
            <a:avLst>
              <a:gd name="adj" fmla="val 16000"/>
            </a:avLst>
          </a:prstGeom>
          <a:solidFill>
            <a:srgbClr val="EAF2FB"/>
          </a:solidFill>
          <a:ln w="12700">
            <a:solidFill>
              <a:srgbClr val="EAF2FB"/>
            </a:solidFill>
            <a:prstDash val="solid"/>
          </a:ln>
        </p:spPr>
      </p:sp>
      <p:sp>
        <p:nvSpPr>
          <p:cNvPr id="8" name="Text 5"/>
          <p:cNvSpPr txBox="1"/>
          <p:nvPr/>
        </p:nvSpPr>
        <p:spPr>
          <a:xfrm>
            <a:off x="7543800" y="2331720"/>
            <a:ext cx="4023360" cy="457200"/>
          </a:xfrm>
          <a:prstGeom prst="rect">
            <a:avLst/>
          </a:prstGeom>
          <a:noFill/>
          <a:ln/>
        </p:spPr>
        <p:txBody>
          <a:bodyPr wrap="square" lIns="0" tIns="0" rIns="0" bIns="0" rtlCol="0" anchor="ctr"/>
          <a:lstStyle/>
          <a:p>
            <a:pPr marL="0" indent="0">
              <a:buNone/>
            </a:pPr>
            <a:r>
              <a:rPr lang="en-US" sz="1400" b="1" dirty="0">
                <a:solidFill>
                  <a:srgbClr val="1F2933"/>
                </a:solidFill>
              </a:rPr>
              <a:t>Est. occupancy %</a:t>
            </a:r>
            <a:r>
              <a:rPr lang="en-US" sz="1400" dirty="0">
                <a:solidFill>
                  <a:srgbClr val="B22222"/>
                </a:solidFill>
              </a:rPr>
              <a:t>   target 15%</a:t>
            </a:r>
            <a:endParaRPr lang="en-US" sz="1400" dirty="0"/>
          </a:p>
        </p:txBody>
      </p:sp>
      <p:sp>
        <p:nvSpPr>
          <p:cNvPr id="9" name="Shape 6"/>
          <p:cNvSpPr/>
          <p:nvPr/>
        </p:nvSpPr>
        <p:spPr>
          <a:xfrm>
            <a:off x="7406640" y="2880360"/>
            <a:ext cx="4233672" cy="457200"/>
          </a:xfrm>
          <a:prstGeom prst="roundRect">
            <a:avLst>
              <a:gd name="adj" fmla="val 16000"/>
            </a:avLst>
          </a:prstGeom>
          <a:solidFill>
            <a:srgbClr val="EAF2FB"/>
          </a:solidFill>
          <a:ln w="12700">
            <a:solidFill>
              <a:srgbClr val="EAF2FB"/>
            </a:solidFill>
            <a:prstDash val="solid"/>
          </a:ln>
        </p:spPr>
      </p:sp>
      <p:sp>
        <p:nvSpPr>
          <p:cNvPr id="10" name="Text 7"/>
          <p:cNvSpPr txBox="1"/>
          <p:nvPr/>
        </p:nvSpPr>
        <p:spPr>
          <a:xfrm>
            <a:off x="7543800" y="2880360"/>
            <a:ext cx="4023360" cy="457200"/>
          </a:xfrm>
          <a:prstGeom prst="rect">
            <a:avLst/>
          </a:prstGeom>
          <a:noFill/>
          <a:ln/>
        </p:spPr>
        <p:txBody>
          <a:bodyPr wrap="square" lIns="0" tIns="0" rIns="0" bIns="0" rtlCol="0" anchor="ctr"/>
          <a:lstStyle/>
          <a:p>
            <a:pPr marL="0" indent="0">
              <a:buNone/>
            </a:pPr>
            <a:r>
              <a:rPr lang="en-US" sz="1400" b="1" dirty="0">
                <a:solidFill>
                  <a:srgbClr val="1F2933"/>
                </a:solidFill>
              </a:rPr>
              <a:t>Median price (USD)</a:t>
            </a:r>
            <a:endParaRPr lang="en-US" sz="1400" dirty="0"/>
          </a:p>
        </p:txBody>
      </p:sp>
      <p:sp>
        <p:nvSpPr>
          <p:cNvPr id="11" name="Shape 8"/>
          <p:cNvSpPr/>
          <p:nvPr/>
        </p:nvSpPr>
        <p:spPr>
          <a:xfrm>
            <a:off x="7406640" y="3429000"/>
            <a:ext cx="4233672" cy="457200"/>
          </a:xfrm>
          <a:prstGeom prst="roundRect">
            <a:avLst>
              <a:gd name="adj" fmla="val 16000"/>
            </a:avLst>
          </a:prstGeom>
          <a:solidFill>
            <a:srgbClr val="EAF2FB"/>
          </a:solidFill>
          <a:ln w="12700">
            <a:solidFill>
              <a:srgbClr val="EAF2FB"/>
            </a:solidFill>
            <a:prstDash val="solid"/>
          </a:ln>
        </p:spPr>
      </p:sp>
      <p:sp>
        <p:nvSpPr>
          <p:cNvPr id="12" name="Text 9"/>
          <p:cNvSpPr txBox="1"/>
          <p:nvPr/>
        </p:nvSpPr>
        <p:spPr>
          <a:xfrm>
            <a:off x="7543800" y="3429000"/>
            <a:ext cx="4023360" cy="457200"/>
          </a:xfrm>
          <a:prstGeom prst="rect">
            <a:avLst/>
          </a:prstGeom>
          <a:noFill/>
          <a:ln/>
        </p:spPr>
        <p:txBody>
          <a:bodyPr wrap="square" lIns="0" tIns="0" rIns="0" bIns="0" rtlCol="0" anchor="ctr"/>
          <a:lstStyle/>
          <a:p>
            <a:pPr marL="0" indent="0">
              <a:buNone/>
            </a:pPr>
            <a:r>
              <a:rPr lang="en-US" sz="1400" b="1" dirty="0">
                <a:solidFill>
                  <a:srgbClr val="1F2933"/>
                </a:solidFill>
              </a:rPr>
              <a:t>Est. revenue (USD)</a:t>
            </a:r>
            <a:endParaRPr lang="en-US" sz="1400" dirty="0"/>
          </a:p>
        </p:txBody>
      </p:sp>
      <p:sp>
        <p:nvSpPr>
          <p:cNvPr id="13" name="Shape 10"/>
          <p:cNvSpPr/>
          <p:nvPr/>
        </p:nvSpPr>
        <p:spPr>
          <a:xfrm>
            <a:off x="7406640" y="3977640"/>
            <a:ext cx="4233672" cy="457200"/>
          </a:xfrm>
          <a:prstGeom prst="roundRect">
            <a:avLst>
              <a:gd name="adj" fmla="val 16000"/>
            </a:avLst>
          </a:prstGeom>
          <a:solidFill>
            <a:srgbClr val="EAF2FB"/>
          </a:solidFill>
          <a:ln w="12700">
            <a:solidFill>
              <a:srgbClr val="EAF2FB"/>
            </a:solidFill>
            <a:prstDash val="solid"/>
          </a:ln>
        </p:spPr>
      </p:sp>
      <p:sp>
        <p:nvSpPr>
          <p:cNvPr id="14" name="Text 11"/>
          <p:cNvSpPr txBox="1"/>
          <p:nvPr/>
        </p:nvSpPr>
        <p:spPr>
          <a:xfrm>
            <a:off x="7543800" y="3977640"/>
            <a:ext cx="4023360" cy="457200"/>
          </a:xfrm>
          <a:prstGeom prst="rect">
            <a:avLst/>
          </a:prstGeom>
          <a:noFill/>
          <a:ln/>
        </p:spPr>
        <p:txBody>
          <a:bodyPr wrap="square" lIns="0" tIns="0" rIns="0" bIns="0" rtlCol="0" anchor="ctr"/>
          <a:lstStyle/>
          <a:p>
            <a:pPr marL="0" indent="0">
              <a:buNone/>
            </a:pPr>
            <a:r>
              <a:rPr lang="en-US" sz="1400" b="1" dirty="0">
                <a:solidFill>
                  <a:srgbClr val="1F2933"/>
                </a:solidFill>
              </a:rPr>
              <a:t>Long-stay % (30+ nights)</a:t>
            </a:r>
            <a:endParaRPr lang="en-US" sz="1400" dirty="0"/>
          </a:p>
        </p:txBody>
      </p:sp>
      <p:sp>
        <p:nvSpPr>
          <p:cNvPr id="15" name="Shape 12"/>
          <p:cNvSpPr/>
          <p:nvPr/>
        </p:nvSpPr>
        <p:spPr>
          <a:xfrm>
            <a:off x="7406640" y="4526280"/>
            <a:ext cx="4233672" cy="457200"/>
          </a:xfrm>
          <a:prstGeom prst="roundRect">
            <a:avLst>
              <a:gd name="adj" fmla="val 16000"/>
            </a:avLst>
          </a:prstGeom>
          <a:solidFill>
            <a:srgbClr val="EAF2FB"/>
          </a:solidFill>
          <a:ln w="12700">
            <a:solidFill>
              <a:srgbClr val="EAF2FB"/>
            </a:solidFill>
            <a:prstDash val="solid"/>
          </a:ln>
        </p:spPr>
      </p:sp>
      <p:sp>
        <p:nvSpPr>
          <p:cNvPr id="16" name="Text 13"/>
          <p:cNvSpPr txBox="1"/>
          <p:nvPr/>
        </p:nvSpPr>
        <p:spPr>
          <a:xfrm>
            <a:off x="7543800" y="4526280"/>
            <a:ext cx="4023360" cy="457200"/>
          </a:xfrm>
          <a:prstGeom prst="rect">
            <a:avLst/>
          </a:prstGeom>
          <a:noFill/>
          <a:ln/>
        </p:spPr>
        <p:txBody>
          <a:bodyPr wrap="square" lIns="0" tIns="0" rIns="0" bIns="0" rtlCol="0" anchor="ctr"/>
          <a:lstStyle/>
          <a:p>
            <a:pPr marL="0" indent="0">
              <a:buNone/>
            </a:pPr>
            <a:r>
              <a:rPr lang="en-US" sz="1400" b="1" dirty="0">
                <a:solidFill>
                  <a:srgbClr val="1F2933"/>
                </a:solidFill>
              </a:rPr>
              <a:t>Top 10% host share</a:t>
            </a:r>
            <a:endParaRPr lang="en-US" sz="1400" dirty="0"/>
          </a:p>
        </p:txBody>
      </p:sp>
      <p:sp>
        <p:nvSpPr>
          <p:cNvPr id="17" name="Shape 14"/>
          <p:cNvSpPr/>
          <p:nvPr/>
        </p:nvSpPr>
        <p:spPr>
          <a:xfrm>
            <a:off x="7406640" y="5074920"/>
            <a:ext cx="4233672" cy="457200"/>
          </a:xfrm>
          <a:prstGeom prst="roundRect">
            <a:avLst>
              <a:gd name="adj" fmla="val 16000"/>
            </a:avLst>
          </a:prstGeom>
          <a:solidFill>
            <a:srgbClr val="EAF2FB"/>
          </a:solidFill>
          <a:ln w="12700">
            <a:solidFill>
              <a:srgbClr val="EAF2FB"/>
            </a:solidFill>
            <a:prstDash val="solid"/>
          </a:ln>
        </p:spPr>
      </p:sp>
      <p:sp>
        <p:nvSpPr>
          <p:cNvPr id="18" name="Text 15"/>
          <p:cNvSpPr txBox="1"/>
          <p:nvPr/>
        </p:nvSpPr>
        <p:spPr>
          <a:xfrm>
            <a:off x="7543800" y="5074920"/>
            <a:ext cx="4023360" cy="457200"/>
          </a:xfrm>
          <a:prstGeom prst="rect">
            <a:avLst/>
          </a:prstGeom>
          <a:noFill/>
          <a:ln/>
        </p:spPr>
        <p:txBody>
          <a:bodyPr wrap="square" lIns="0" tIns="0" rIns="0" bIns="0" rtlCol="0" anchor="ctr"/>
          <a:lstStyle/>
          <a:p>
            <a:pPr marL="0" indent="0">
              <a:buNone/>
            </a:pPr>
            <a:r>
              <a:rPr lang="en-US" sz="1400" b="1" dirty="0">
                <a:solidFill>
                  <a:srgbClr val="1F2933"/>
                </a:solidFill>
              </a:rPr>
              <a:t>Last refreshed</a:t>
            </a:r>
            <a:r>
              <a:rPr lang="en-US" sz="1400" dirty="0">
                <a:solidFill>
                  <a:srgbClr val="B22222"/>
                </a:solidFill>
              </a:rPr>
              <a:t>   live proof</a:t>
            </a:r>
            <a:endParaRPr lang="en-US" sz="1400" dirty="0"/>
          </a:p>
        </p:txBody>
      </p:sp>
      <p:sp>
        <p:nvSpPr>
          <p:cNvPr id="19" name="Text 16"/>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rgbClr val="595959"/>
                </a:solidFill>
              </a:rPr>
              <a:t>Example: CALL sp_top_areas('LON', 'revenue', 10) ranks London boroughs; the sort column comes from a whitelist, so no SQL injection.</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A 15-minute MySQL event makes the dashboard near-real-time</a:t>
            </a:r>
            <a:endParaRPr lang="en-US" sz="2600" dirty="0"/>
          </a:p>
        </p:txBody>
      </p:sp>
      <p:sp>
        <p:nvSpPr>
          <p:cNvPr id="3" name="Shape 1"/>
          <p:cNvSpPr/>
          <p:nvPr/>
        </p:nvSpPr>
        <p:spPr>
          <a:xfrm>
            <a:off x="548640" y="1490472"/>
            <a:ext cx="566928" cy="566928"/>
          </a:xfrm>
          <a:prstGeom prst="ellipse">
            <a:avLst/>
          </a:prstGeom>
          <a:solidFill>
            <a:srgbClr val="1F4E79"/>
          </a:solidFill>
          <a:ln w="12700">
            <a:solidFill>
              <a:srgbClr val="1F4E79"/>
            </a:solidFill>
            <a:prstDash val="solid"/>
          </a:ln>
        </p:spPr>
      </p:sp>
      <p:sp>
        <p:nvSpPr>
          <p:cNvPr id="4" name="Text 2"/>
          <p:cNvSpPr txBox="1"/>
          <p:nvPr/>
        </p:nvSpPr>
        <p:spPr>
          <a:xfrm>
            <a:off x="548640" y="1490472"/>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5" name="Text 3"/>
          <p:cNvSpPr txBox="1"/>
          <p:nvPr/>
        </p:nvSpPr>
        <p:spPr>
          <a:xfrm>
            <a:off x="1325880" y="1417320"/>
            <a:ext cx="3931920" cy="365760"/>
          </a:xfrm>
          <a:prstGeom prst="rect">
            <a:avLst/>
          </a:prstGeom>
          <a:noFill/>
          <a:ln/>
        </p:spPr>
        <p:txBody>
          <a:bodyPr wrap="square" lIns="0" tIns="0" rIns="0" bIns="0" rtlCol="0" anchor="ctr"/>
          <a:lstStyle/>
          <a:p>
            <a:pPr marL="0" indent="0">
              <a:buNone/>
            </a:pPr>
            <a:r>
              <a:rPr lang="en-US" sz="1700" b="1" dirty="0">
                <a:solidFill>
                  <a:srgbClr val="1F4E79"/>
                </a:solidFill>
              </a:rPr>
              <a:t>MySQL EVENT</a:t>
            </a:r>
            <a:endParaRPr lang="en-US" sz="1700" dirty="0"/>
          </a:p>
        </p:txBody>
      </p:sp>
      <p:sp>
        <p:nvSpPr>
          <p:cNvPr id="6" name="Text 4"/>
          <p:cNvSpPr txBox="1"/>
          <p:nvPr/>
        </p:nvSpPr>
        <p:spPr>
          <a:xfrm>
            <a:off x="1325880" y="1783080"/>
            <a:ext cx="3931920" cy="548640"/>
          </a:xfrm>
          <a:prstGeom prst="rect">
            <a:avLst/>
          </a:prstGeom>
          <a:noFill/>
          <a:ln/>
        </p:spPr>
        <p:txBody>
          <a:bodyPr wrap="square" lIns="0" tIns="0" rIns="0" bIns="0" rtlCol="0" anchor="t"/>
          <a:lstStyle/>
          <a:p>
            <a:pPr marL="0" indent="0">
              <a:buNone/>
            </a:pPr>
            <a:r>
              <a:rPr lang="en-US" sz="1400" dirty="0">
                <a:solidFill>
                  <a:srgbClr val="1F2933"/>
                </a:solidFill>
              </a:rPr>
              <a:t>every 15 minutes calls sp_capture_kpi_snapshot</a:t>
            </a:r>
            <a:endParaRPr lang="en-US" sz="1400" dirty="0"/>
          </a:p>
        </p:txBody>
      </p:sp>
      <p:sp>
        <p:nvSpPr>
          <p:cNvPr id="7" name="Shape 5"/>
          <p:cNvSpPr/>
          <p:nvPr/>
        </p:nvSpPr>
        <p:spPr>
          <a:xfrm>
            <a:off x="548640" y="2606040"/>
            <a:ext cx="566928" cy="566928"/>
          </a:xfrm>
          <a:prstGeom prst="ellipse">
            <a:avLst/>
          </a:prstGeom>
          <a:solidFill>
            <a:srgbClr val="1F4E79"/>
          </a:solidFill>
          <a:ln w="12700">
            <a:solidFill>
              <a:srgbClr val="1F4E79"/>
            </a:solidFill>
            <a:prstDash val="solid"/>
          </a:ln>
        </p:spPr>
      </p:sp>
      <p:sp>
        <p:nvSpPr>
          <p:cNvPr id="8" name="Text 6"/>
          <p:cNvSpPr txBox="1"/>
          <p:nvPr/>
        </p:nvSpPr>
        <p:spPr>
          <a:xfrm>
            <a:off x="548640" y="2606040"/>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9" name="Text 7"/>
          <p:cNvSpPr txBox="1"/>
          <p:nvPr/>
        </p:nvSpPr>
        <p:spPr>
          <a:xfrm>
            <a:off x="1325880" y="2532888"/>
            <a:ext cx="3931920" cy="365760"/>
          </a:xfrm>
          <a:prstGeom prst="rect">
            <a:avLst/>
          </a:prstGeom>
          <a:noFill/>
          <a:ln/>
        </p:spPr>
        <p:txBody>
          <a:bodyPr wrap="square" lIns="0" tIns="0" rIns="0" bIns="0" rtlCol="0" anchor="ctr"/>
          <a:lstStyle/>
          <a:p>
            <a:pPr marL="0" indent="0">
              <a:buNone/>
            </a:pPr>
            <a:r>
              <a:rPr lang="en-US" sz="1700" b="1" dirty="0">
                <a:solidFill>
                  <a:srgbClr val="1F4E79"/>
                </a:solidFill>
              </a:rPr>
              <a:t>Live data</a:t>
            </a:r>
            <a:endParaRPr lang="en-US" sz="1700" dirty="0"/>
          </a:p>
        </p:txBody>
      </p:sp>
      <p:sp>
        <p:nvSpPr>
          <p:cNvPr id="10" name="Text 8"/>
          <p:cNvSpPr txBox="1"/>
          <p:nvPr/>
        </p:nvSpPr>
        <p:spPr>
          <a:xfrm>
            <a:off x="1325880" y="2898648"/>
            <a:ext cx="3931920" cy="548640"/>
          </a:xfrm>
          <a:prstGeom prst="rect">
            <a:avLst/>
          </a:prstGeom>
          <a:noFill/>
          <a:ln/>
        </p:spPr>
        <p:txBody>
          <a:bodyPr wrap="square" lIns="0" tIns="0" rIns="0" bIns="0" rtlCol="0" anchor="t"/>
          <a:lstStyle/>
          <a:p>
            <a:pPr marL="0" indent="0">
              <a:buNone/>
            </a:pPr>
            <a:r>
              <a:rPr lang="en-US" sz="1400" dirty="0">
                <a:solidFill>
                  <a:srgbClr val="1F2933"/>
                </a:solidFill>
              </a:rPr>
              <a:t>sp_simulate_live_reviews adds new reviews for the demo</a:t>
            </a:r>
            <a:endParaRPr lang="en-US" sz="1400" dirty="0"/>
          </a:p>
        </p:txBody>
      </p:sp>
      <p:sp>
        <p:nvSpPr>
          <p:cNvPr id="11" name="Shape 9"/>
          <p:cNvSpPr/>
          <p:nvPr/>
        </p:nvSpPr>
        <p:spPr>
          <a:xfrm>
            <a:off x="548640" y="3721608"/>
            <a:ext cx="566928" cy="566928"/>
          </a:xfrm>
          <a:prstGeom prst="ellipse">
            <a:avLst/>
          </a:prstGeom>
          <a:solidFill>
            <a:srgbClr val="1F4E79"/>
          </a:solidFill>
          <a:ln w="12700">
            <a:solidFill>
              <a:srgbClr val="1F4E79"/>
            </a:solidFill>
            <a:prstDash val="solid"/>
          </a:ln>
        </p:spPr>
      </p:sp>
      <p:sp>
        <p:nvSpPr>
          <p:cNvPr id="12" name="Text 10"/>
          <p:cNvSpPr txBox="1"/>
          <p:nvPr/>
        </p:nvSpPr>
        <p:spPr>
          <a:xfrm>
            <a:off x="548640" y="3721608"/>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3" name="Text 11"/>
          <p:cNvSpPr txBox="1"/>
          <p:nvPr/>
        </p:nvSpPr>
        <p:spPr>
          <a:xfrm>
            <a:off x="1325880" y="3648456"/>
            <a:ext cx="3931920" cy="365760"/>
          </a:xfrm>
          <a:prstGeom prst="rect">
            <a:avLst/>
          </a:prstGeom>
          <a:noFill/>
          <a:ln/>
        </p:spPr>
        <p:txBody>
          <a:bodyPr wrap="square" lIns="0" tIns="0" rIns="0" bIns="0" rtlCol="0" anchor="ctr"/>
          <a:lstStyle/>
          <a:p>
            <a:pPr marL="0" indent="0">
              <a:buNone/>
            </a:pPr>
            <a:r>
              <a:rPr lang="en-US" sz="1700" b="1" dirty="0">
                <a:solidFill>
                  <a:srgbClr val="1F4E79"/>
                </a:solidFill>
              </a:rPr>
              <a:t>Refresh</a:t>
            </a:r>
            <a:endParaRPr lang="en-US" sz="1700" dirty="0"/>
          </a:p>
        </p:txBody>
      </p:sp>
      <p:sp>
        <p:nvSpPr>
          <p:cNvPr id="14" name="Text 12"/>
          <p:cNvSpPr txBox="1"/>
          <p:nvPr/>
        </p:nvSpPr>
        <p:spPr>
          <a:xfrm>
            <a:off x="1325880" y="4014216"/>
            <a:ext cx="3931920" cy="548640"/>
          </a:xfrm>
          <a:prstGeom prst="rect">
            <a:avLst/>
          </a:prstGeom>
          <a:noFill/>
          <a:ln/>
        </p:spPr>
        <p:txBody>
          <a:bodyPr wrap="square" lIns="0" tIns="0" rIns="0" bIns="0" rtlCol="0" anchor="t"/>
          <a:lstStyle/>
          <a:p>
            <a:pPr marL="0" indent="0">
              <a:buNone/>
            </a:pPr>
            <a:r>
              <a:rPr lang="en-US" sz="1400" dirty="0">
                <a:solidFill>
                  <a:srgbClr val="1F2933"/>
                </a:solidFill>
              </a:rPr>
              <a:t>Power BI re-imports the vw_pbi_* views</a:t>
            </a:r>
            <a:endParaRPr lang="en-US" sz="1400" dirty="0"/>
          </a:p>
        </p:txBody>
      </p:sp>
      <p:sp>
        <p:nvSpPr>
          <p:cNvPr id="15" name="Shape 13"/>
          <p:cNvSpPr/>
          <p:nvPr/>
        </p:nvSpPr>
        <p:spPr>
          <a:xfrm>
            <a:off x="548640" y="4837176"/>
            <a:ext cx="566928" cy="566928"/>
          </a:xfrm>
          <a:prstGeom prst="ellipse">
            <a:avLst/>
          </a:prstGeom>
          <a:solidFill>
            <a:srgbClr val="1F4E79"/>
          </a:solidFill>
          <a:ln w="12700">
            <a:solidFill>
              <a:srgbClr val="1F4E79"/>
            </a:solidFill>
            <a:prstDash val="solid"/>
          </a:ln>
        </p:spPr>
      </p:sp>
      <p:sp>
        <p:nvSpPr>
          <p:cNvPr id="16" name="Text 14"/>
          <p:cNvSpPr txBox="1"/>
          <p:nvPr/>
        </p:nvSpPr>
        <p:spPr>
          <a:xfrm>
            <a:off x="548640" y="4837176"/>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7" name="Text 15"/>
          <p:cNvSpPr txBox="1"/>
          <p:nvPr/>
        </p:nvSpPr>
        <p:spPr>
          <a:xfrm>
            <a:off x="1325880" y="4764024"/>
            <a:ext cx="3931920" cy="365760"/>
          </a:xfrm>
          <a:prstGeom prst="rect">
            <a:avLst/>
          </a:prstGeom>
          <a:noFill/>
          <a:ln/>
        </p:spPr>
        <p:txBody>
          <a:bodyPr wrap="square" lIns="0" tIns="0" rIns="0" bIns="0" rtlCol="0" anchor="ctr"/>
          <a:lstStyle/>
          <a:p>
            <a:pPr marL="0" indent="0">
              <a:buNone/>
            </a:pPr>
            <a:r>
              <a:rPr lang="en-US" sz="1700" b="1" dirty="0">
                <a:solidFill>
                  <a:srgbClr val="1F4E79"/>
                </a:solidFill>
              </a:rPr>
              <a:t>Track</a:t>
            </a:r>
            <a:endParaRPr lang="en-US" sz="1700" dirty="0"/>
          </a:p>
        </p:txBody>
      </p:sp>
      <p:sp>
        <p:nvSpPr>
          <p:cNvPr id="18" name="Text 16"/>
          <p:cNvSpPr txBox="1"/>
          <p:nvPr/>
        </p:nvSpPr>
        <p:spPr>
          <a:xfrm>
            <a:off x="1325880" y="5129784"/>
            <a:ext cx="3931920" cy="548640"/>
          </a:xfrm>
          <a:prstGeom prst="rect">
            <a:avLst/>
          </a:prstGeom>
          <a:noFill/>
          <a:ln/>
        </p:spPr>
        <p:txBody>
          <a:bodyPr wrap="square" lIns="0" tIns="0" rIns="0" bIns="0" rtlCol="0" anchor="t"/>
          <a:lstStyle/>
          <a:p>
            <a:pPr marL="0" indent="0">
              <a:buNone/>
            </a:pPr>
            <a:r>
              <a:rPr lang="en-US" sz="1400" dirty="0">
                <a:solidFill>
                  <a:srgbClr val="1F2933"/>
                </a:solidFill>
              </a:rPr>
              <a:t>gauges, targets and a timestamped snapshot log update</a:t>
            </a:r>
            <a:endParaRPr lang="en-US" sz="1400" dirty="0"/>
          </a:p>
        </p:txBody>
      </p:sp>
      <p:pic>
        <p:nvPicPr>
          <p:cNvPr id="19" name="Image 0" descr="/home/claude/rep/img/p4_kpi.png"/>
          <p:cNvPicPr>
            <a:picLocks noChangeAspect="1"/>
          </p:cNvPicPr>
          <p:nvPr/>
        </p:nvPicPr>
        <p:blipFill>
          <a:blip r:embed="rId3"/>
          <a:stretch>
            <a:fillRect/>
          </a:stretch>
        </p:blipFill>
        <p:spPr>
          <a:xfrm>
            <a:off x="5486400" y="1371600"/>
            <a:ext cx="6153912" cy="3387960"/>
          </a:xfrm>
          <a:prstGeom prst="rect">
            <a:avLst/>
          </a:prstGeom>
        </p:spPr>
      </p:pic>
      <p:sp>
        <p:nvSpPr>
          <p:cNvPr id="20" name="Text 17"/>
          <p:cNvSpPr txBox="1"/>
          <p:nvPr/>
        </p:nvSpPr>
        <p:spPr>
          <a:xfrm>
            <a:off x="5486400" y="4846320"/>
            <a:ext cx="6153912" cy="548640"/>
          </a:xfrm>
          <a:prstGeom prst="rect">
            <a:avLst/>
          </a:prstGeom>
          <a:noFill/>
          <a:ln/>
        </p:spPr>
        <p:txBody>
          <a:bodyPr wrap="square" lIns="0" tIns="0" rIns="0" bIns="0" rtlCol="0" anchor="ctr"/>
          <a:lstStyle/>
          <a:p>
            <a:pPr marL="0" indent="0">
              <a:buNone/>
            </a:pPr>
            <a:r>
              <a:rPr lang="en-US" sz="1200" i="1" dirty="0">
                <a:solidFill>
                  <a:srgbClr val="595959"/>
                </a:solidFill>
              </a:rPr>
              <a:t>KPI Tracking page: Active % vs 50% target, occupancy vs 15%, and five snapshots captured 15 minutes apart.</a:t>
            </a:r>
            <a:endParaRPr lang="en-US" sz="12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Four Power BI pages take managers from city level down to one neighbourhood</a:t>
            </a:r>
            <a:endParaRPr lang="en-US" sz="2600" dirty="0"/>
          </a:p>
        </p:txBody>
      </p:sp>
      <p:pic>
        <p:nvPicPr>
          <p:cNvPr id="3" name="Image 0" descr="/home/claude/rep/img/p1_overview.png"/>
          <p:cNvPicPr>
            <a:picLocks noChangeAspect="1"/>
          </p:cNvPicPr>
          <p:nvPr/>
        </p:nvPicPr>
        <p:blipFill>
          <a:blip r:embed="rId3"/>
          <a:stretch>
            <a:fillRect/>
          </a:stretch>
        </p:blipFill>
        <p:spPr>
          <a:xfrm>
            <a:off x="548640" y="1371600"/>
            <a:ext cx="6675120" cy="3674905"/>
          </a:xfrm>
          <a:prstGeom prst="rect">
            <a:avLst/>
          </a:prstGeom>
        </p:spPr>
      </p:pic>
      <p:sp>
        <p:nvSpPr>
          <p:cNvPr id="4" name="Text 1"/>
          <p:cNvSpPr txBox="1"/>
          <p:nvPr/>
        </p:nvSpPr>
        <p:spPr>
          <a:xfrm>
            <a:off x="548640" y="5120640"/>
            <a:ext cx="6675120" cy="548640"/>
          </a:xfrm>
          <a:prstGeom prst="rect">
            <a:avLst/>
          </a:prstGeom>
          <a:noFill/>
          <a:ln/>
        </p:spPr>
        <p:txBody>
          <a:bodyPr wrap="square" lIns="0" tIns="0" rIns="0" bIns="0" rtlCol="0" anchor="ctr"/>
          <a:lstStyle/>
          <a:p>
            <a:pPr marL="0" indent="0">
              <a:buNone/>
            </a:pPr>
            <a:r>
              <a:rPr lang="en-US" sz="1200" i="1" dirty="0">
                <a:solidFill>
                  <a:srgbClr val="595959"/>
                </a:solidFill>
              </a:rPr>
              <a:t>Overview page: slicers, KPI cards by city, trends and a drill-down matrix (2,000-listing demo sample per city).</a:t>
            </a:r>
            <a:endParaRPr lang="en-US" sz="1200" dirty="0"/>
          </a:p>
        </p:txBody>
      </p:sp>
      <p:sp>
        <p:nvSpPr>
          <p:cNvPr id="5" name="Text 2"/>
          <p:cNvSpPr txBox="1"/>
          <p:nvPr/>
        </p:nvSpPr>
        <p:spPr>
          <a:xfrm>
            <a:off x="7589520" y="1371600"/>
            <a:ext cx="4050792" cy="347472"/>
          </a:xfrm>
          <a:prstGeom prst="rect">
            <a:avLst/>
          </a:prstGeom>
          <a:noFill/>
          <a:ln/>
        </p:spPr>
        <p:txBody>
          <a:bodyPr wrap="square" lIns="0" tIns="0" rIns="0" bIns="0" rtlCol="0" anchor="ctr"/>
          <a:lstStyle/>
          <a:p>
            <a:pPr marL="0" indent="0">
              <a:buNone/>
            </a:pPr>
            <a:r>
              <a:rPr lang="en-US" sz="1700" b="1" dirty="0">
                <a:solidFill>
                  <a:srgbClr val="1F4E79"/>
                </a:solidFill>
              </a:rPr>
              <a:t>Filters</a:t>
            </a:r>
            <a:endParaRPr lang="en-US" sz="1700" dirty="0"/>
          </a:p>
        </p:txBody>
      </p:sp>
      <p:sp>
        <p:nvSpPr>
          <p:cNvPr id="6" name="Text 3"/>
          <p:cNvSpPr txBox="1"/>
          <p:nvPr/>
        </p:nvSpPr>
        <p:spPr>
          <a:xfrm>
            <a:off x="7589520" y="1719072"/>
            <a:ext cx="4050792" cy="685800"/>
          </a:xfrm>
          <a:prstGeom prst="rect">
            <a:avLst/>
          </a:prstGeom>
          <a:noFill/>
          <a:ln/>
        </p:spPr>
        <p:txBody>
          <a:bodyPr wrap="square" lIns="0" tIns="0" rIns="0" bIns="0" rtlCol="0" anchor="t"/>
          <a:lstStyle/>
          <a:p>
            <a:pPr marL="0" indent="0">
              <a:buNone/>
            </a:pPr>
            <a:r>
              <a:rPr lang="en-US" sz="1400" dirty="0">
                <a:solidFill>
                  <a:srgbClr val="1F2933"/>
                </a:solidFill>
              </a:rPr>
              <a:t>City and room-type slicers narrow every visual on the page.</a:t>
            </a:r>
            <a:endParaRPr lang="en-US" sz="1400" dirty="0"/>
          </a:p>
        </p:txBody>
      </p:sp>
      <p:sp>
        <p:nvSpPr>
          <p:cNvPr id="7" name="Text 4"/>
          <p:cNvSpPr txBox="1"/>
          <p:nvPr/>
        </p:nvSpPr>
        <p:spPr>
          <a:xfrm>
            <a:off x="7589520" y="2450592"/>
            <a:ext cx="4050792" cy="347472"/>
          </a:xfrm>
          <a:prstGeom prst="rect">
            <a:avLst/>
          </a:prstGeom>
          <a:noFill/>
          <a:ln/>
        </p:spPr>
        <p:txBody>
          <a:bodyPr wrap="square" lIns="0" tIns="0" rIns="0" bIns="0" rtlCol="0" anchor="ctr"/>
          <a:lstStyle/>
          <a:p>
            <a:pPr marL="0" indent="0">
              <a:buNone/>
            </a:pPr>
            <a:r>
              <a:rPr lang="en-US" sz="1700" b="1" dirty="0">
                <a:solidFill>
                  <a:srgbClr val="1F4E79"/>
                </a:solidFill>
              </a:rPr>
              <a:t>Drill-down / drill-up</a:t>
            </a:r>
            <a:endParaRPr lang="en-US" sz="1700" dirty="0"/>
          </a:p>
        </p:txBody>
      </p:sp>
      <p:sp>
        <p:nvSpPr>
          <p:cNvPr id="8" name="Text 5"/>
          <p:cNvSpPr txBox="1"/>
          <p:nvPr/>
        </p:nvSpPr>
        <p:spPr>
          <a:xfrm>
            <a:off x="7589520" y="2798064"/>
            <a:ext cx="4050792" cy="685800"/>
          </a:xfrm>
          <a:prstGeom prst="rect">
            <a:avLst/>
          </a:prstGeom>
          <a:noFill/>
          <a:ln/>
        </p:spPr>
        <p:txBody>
          <a:bodyPr wrap="square" lIns="0" tIns="0" rIns="0" bIns="0" rtlCol="0" anchor="t"/>
          <a:lstStyle/>
          <a:p>
            <a:pPr marL="0" indent="0">
              <a:buNone/>
            </a:pPr>
            <a:r>
              <a:rPr lang="en-US" sz="1400" dirty="0">
                <a:solidFill>
                  <a:srgbClr val="1F2933"/>
                </a:solidFill>
              </a:rPr>
              <a:t>In the matrix, + opens a city's room types; - or the up arrow returns to city level.</a:t>
            </a:r>
            <a:endParaRPr lang="en-US" sz="1400" dirty="0"/>
          </a:p>
        </p:txBody>
      </p:sp>
      <p:sp>
        <p:nvSpPr>
          <p:cNvPr id="9" name="Text 6"/>
          <p:cNvSpPr txBox="1"/>
          <p:nvPr/>
        </p:nvSpPr>
        <p:spPr>
          <a:xfrm>
            <a:off x="7589520" y="3529584"/>
            <a:ext cx="4050792" cy="347472"/>
          </a:xfrm>
          <a:prstGeom prst="rect">
            <a:avLst/>
          </a:prstGeom>
          <a:noFill/>
          <a:ln/>
        </p:spPr>
        <p:txBody>
          <a:bodyPr wrap="square" lIns="0" tIns="0" rIns="0" bIns="0" rtlCol="0" anchor="ctr"/>
          <a:lstStyle/>
          <a:p>
            <a:pPr marL="0" indent="0">
              <a:buNone/>
            </a:pPr>
            <a:r>
              <a:rPr lang="en-US" sz="1700" b="1" dirty="0">
                <a:solidFill>
                  <a:srgbClr val="1F4E79"/>
                </a:solidFill>
              </a:rPr>
              <a:t>Drill-through</a:t>
            </a:r>
            <a:endParaRPr lang="en-US" sz="1700" dirty="0"/>
          </a:p>
        </p:txBody>
      </p:sp>
      <p:sp>
        <p:nvSpPr>
          <p:cNvPr id="10" name="Text 7"/>
          <p:cNvSpPr txBox="1"/>
          <p:nvPr/>
        </p:nvSpPr>
        <p:spPr>
          <a:xfrm>
            <a:off x="7589520" y="3877056"/>
            <a:ext cx="4050792" cy="685800"/>
          </a:xfrm>
          <a:prstGeom prst="rect">
            <a:avLst/>
          </a:prstGeom>
          <a:noFill/>
          <a:ln/>
        </p:spPr>
        <p:txBody>
          <a:bodyPr wrap="square" lIns="0" tIns="0" rIns="0" bIns="0" rtlCol="0" anchor="t"/>
          <a:lstStyle/>
          <a:p>
            <a:pPr marL="0" indent="0">
              <a:buNone/>
            </a:pPr>
            <a:r>
              <a:rPr lang="en-US" sz="1400" dirty="0">
                <a:solidFill>
                  <a:srgbClr val="1F2933"/>
                </a:solidFill>
              </a:rPr>
              <a:t>Right-click a neighbourhood &gt; Drill through opens a filtered Neighbourhood Detail page with a back button.</a:t>
            </a:r>
            <a:endParaRPr lang="en-US" sz="1400" dirty="0"/>
          </a:p>
        </p:txBody>
      </p:sp>
      <p:sp>
        <p:nvSpPr>
          <p:cNvPr id="11" name="Text 8"/>
          <p:cNvSpPr txBox="1"/>
          <p:nvPr/>
        </p:nvSpPr>
        <p:spPr>
          <a:xfrm>
            <a:off x="7589520" y="4608576"/>
            <a:ext cx="4050792" cy="347472"/>
          </a:xfrm>
          <a:prstGeom prst="rect">
            <a:avLst/>
          </a:prstGeom>
          <a:noFill/>
          <a:ln/>
        </p:spPr>
        <p:txBody>
          <a:bodyPr wrap="square" lIns="0" tIns="0" rIns="0" bIns="0" rtlCol="0" anchor="ctr"/>
          <a:lstStyle/>
          <a:p>
            <a:pPr marL="0" indent="0">
              <a:buNone/>
            </a:pPr>
            <a:r>
              <a:rPr lang="en-US" sz="1700" b="1" dirty="0">
                <a:solidFill>
                  <a:srgbClr val="1F4E79"/>
                </a:solidFill>
              </a:rPr>
              <a:t>Storyline</a:t>
            </a:r>
            <a:endParaRPr lang="en-US" sz="1700" dirty="0"/>
          </a:p>
        </p:txBody>
      </p:sp>
      <p:sp>
        <p:nvSpPr>
          <p:cNvPr id="12" name="Text 9"/>
          <p:cNvSpPr txBox="1"/>
          <p:nvPr/>
        </p:nvSpPr>
        <p:spPr>
          <a:xfrm>
            <a:off x="7589520" y="4956048"/>
            <a:ext cx="4050792" cy="685800"/>
          </a:xfrm>
          <a:prstGeom prst="rect">
            <a:avLst/>
          </a:prstGeom>
          <a:noFill/>
          <a:ln/>
        </p:spPr>
        <p:txBody>
          <a:bodyPr wrap="square" lIns="0" tIns="0" rIns="0" bIns="0" rtlCol="0" anchor="t"/>
          <a:lstStyle/>
          <a:p>
            <a:pPr marL="0" indent="0">
              <a:buNone/>
            </a:pPr>
            <a:r>
              <a:rPr lang="en-US" sz="1400" dirty="0">
                <a:solidFill>
                  <a:srgbClr val="1F2933"/>
                </a:solidFill>
              </a:rPr>
              <a:t>Overview &gt; Neighbourhoods &gt; Detail &gt; KPI Tracking.</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After Local Law 18, New York demand fell while London's doubled</a:t>
            </a:r>
            <a:endParaRPr lang="en-US" sz="2600" dirty="0"/>
          </a:p>
        </p:txBody>
      </p:sp>
      <p:graphicFrame>
        <p:nvGraphicFramePr>
          <p:cNvPr id="3" name="Chart 0"/>
          <p:cNvGraphicFramePr/>
          <p:nvPr/>
        </p:nvGraphicFramePr>
        <p:xfrm>
          <a:off x="548640" y="1325880"/>
          <a:ext cx="6675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589520" y="1325880"/>
            <a:ext cx="4050792" cy="1371600"/>
          </a:xfrm>
          <a:prstGeom prst="roundRect">
            <a:avLst>
              <a:gd name="adj" fmla="val 8000"/>
            </a:avLst>
          </a:prstGeom>
          <a:solidFill>
            <a:srgbClr val="EAF2FB"/>
          </a:solidFill>
          <a:ln w="12700">
            <a:solidFill>
              <a:srgbClr val="EAF2FB"/>
            </a:solidFill>
            <a:prstDash val="solid"/>
          </a:ln>
        </p:spPr>
      </p:sp>
      <p:sp>
        <p:nvSpPr>
          <p:cNvPr id="5" name="Text 2"/>
          <p:cNvSpPr txBox="1"/>
          <p:nvPr/>
        </p:nvSpPr>
        <p:spPr>
          <a:xfrm>
            <a:off x="7818120" y="1435608"/>
            <a:ext cx="3593592" cy="713232"/>
          </a:xfrm>
          <a:prstGeom prst="rect">
            <a:avLst/>
          </a:prstGeom>
          <a:noFill/>
          <a:ln/>
        </p:spPr>
        <p:txBody>
          <a:bodyPr wrap="square" lIns="0" tIns="0" rIns="0" bIns="0" rtlCol="0" anchor="b"/>
          <a:lstStyle/>
          <a:p>
            <a:pPr marL="0" indent="0">
              <a:buNone/>
            </a:pPr>
            <a:r>
              <a:rPr lang="en-US" sz="3000" b="1" dirty="0">
                <a:solidFill>
                  <a:srgbClr val="B22222"/>
                </a:solidFill>
              </a:rPr>
              <a:t>80.7%</a:t>
            </a:r>
            <a:endParaRPr lang="en-US" sz="3000" dirty="0"/>
          </a:p>
        </p:txBody>
      </p:sp>
      <p:sp>
        <p:nvSpPr>
          <p:cNvPr id="6" name="Text 3"/>
          <p:cNvSpPr txBox="1"/>
          <p:nvPr/>
        </p:nvSpPr>
        <p:spPr>
          <a:xfrm>
            <a:off x="7818120" y="2121408"/>
            <a:ext cx="3593592" cy="521208"/>
          </a:xfrm>
          <a:prstGeom prst="rect">
            <a:avLst/>
          </a:prstGeom>
          <a:noFill/>
          <a:ln/>
        </p:spPr>
        <p:txBody>
          <a:bodyPr wrap="square" lIns="0" tIns="0" rIns="0" bIns="0" rtlCol="0" anchor="t"/>
          <a:lstStyle/>
          <a:p>
            <a:pPr marL="0" indent="0">
              <a:buNone/>
            </a:pPr>
            <a:r>
              <a:rPr lang="en-US" sz="1400" dirty="0">
                <a:solidFill>
                  <a:srgbClr val="1F2933"/>
                </a:solidFill>
              </a:rPr>
              <a:t>of New York listings now need 30+ nights (London 2.1%)</a:t>
            </a:r>
            <a:endParaRPr lang="en-US" sz="1400" dirty="0"/>
          </a:p>
        </p:txBody>
      </p:sp>
      <p:sp>
        <p:nvSpPr>
          <p:cNvPr id="7" name="Shape 4"/>
          <p:cNvSpPr/>
          <p:nvPr/>
        </p:nvSpPr>
        <p:spPr>
          <a:xfrm>
            <a:off x="7589520" y="2834640"/>
            <a:ext cx="4050792" cy="1371600"/>
          </a:xfrm>
          <a:prstGeom prst="roundRect">
            <a:avLst>
              <a:gd name="adj" fmla="val 8000"/>
            </a:avLst>
          </a:prstGeom>
          <a:solidFill>
            <a:srgbClr val="EAF2FB"/>
          </a:solidFill>
          <a:ln w="12700">
            <a:solidFill>
              <a:srgbClr val="EAF2FB"/>
            </a:solidFill>
            <a:prstDash val="solid"/>
          </a:ln>
        </p:spPr>
      </p:sp>
      <p:sp>
        <p:nvSpPr>
          <p:cNvPr id="8" name="Text 5"/>
          <p:cNvSpPr txBox="1"/>
          <p:nvPr/>
        </p:nvSpPr>
        <p:spPr>
          <a:xfrm>
            <a:off x="7818120" y="2944368"/>
            <a:ext cx="3593592" cy="713232"/>
          </a:xfrm>
          <a:prstGeom prst="rect">
            <a:avLst/>
          </a:prstGeom>
          <a:noFill/>
          <a:ln/>
        </p:spPr>
        <p:txBody>
          <a:bodyPr wrap="square" lIns="0" tIns="0" rIns="0" bIns="0" rtlCol="0" anchor="b"/>
          <a:lstStyle/>
          <a:p>
            <a:pPr marL="0" indent="0">
              <a:buNone/>
            </a:pPr>
            <a:r>
              <a:rPr lang="en-US" sz="3000" b="1" dirty="0">
                <a:solidFill>
                  <a:srgbClr val="1F4E79"/>
                </a:solidFill>
              </a:rPr>
              <a:t>31% vs 43%</a:t>
            </a:r>
            <a:endParaRPr lang="en-US" sz="3000" dirty="0"/>
          </a:p>
        </p:txBody>
      </p:sp>
      <p:sp>
        <p:nvSpPr>
          <p:cNvPr id="9" name="Text 6"/>
          <p:cNvSpPr txBox="1"/>
          <p:nvPr/>
        </p:nvSpPr>
        <p:spPr>
          <a:xfrm>
            <a:off x="7818120" y="3630168"/>
            <a:ext cx="3593592" cy="521208"/>
          </a:xfrm>
          <a:prstGeom prst="rect">
            <a:avLst/>
          </a:prstGeom>
          <a:noFill/>
          <a:ln/>
        </p:spPr>
        <p:txBody>
          <a:bodyPr wrap="square" lIns="0" tIns="0" rIns="0" bIns="0" rtlCol="0" anchor="t"/>
          <a:lstStyle/>
          <a:p>
            <a:pPr marL="0" indent="0">
              <a:buNone/>
            </a:pPr>
            <a:r>
              <a:rPr lang="en-US" sz="1400" dirty="0">
                <a:solidFill>
                  <a:srgbClr val="1F2933"/>
                </a:solidFill>
              </a:rPr>
              <a:t>of listings actually active, New York vs London</a:t>
            </a:r>
            <a:endParaRPr lang="en-US" sz="1400" dirty="0"/>
          </a:p>
        </p:txBody>
      </p:sp>
      <p:sp>
        <p:nvSpPr>
          <p:cNvPr id="10" name="Shape 7"/>
          <p:cNvSpPr/>
          <p:nvPr/>
        </p:nvSpPr>
        <p:spPr>
          <a:xfrm>
            <a:off x="7589520" y="4343400"/>
            <a:ext cx="4050792" cy="1371600"/>
          </a:xfrm>
          <a:prstGeom prst="roundRect">
            <a:avLst>
              <a:gd name="adj" fmla="val 8000"/>
            </a:avLst>
          </a:prstGeom>
          <a:solidFill>
            <a:srgbClr val="EAF2FB"/>
          </a:solidFill>
          <a:ln w="12700">
            <a:solidFill>
              <a:srgbClr val="EAF2FB"/>
            </a:solidFill>
            <a:prstDash val="solid"/>
          </a:ln>
        </p:spPr>
      </p:sp>
      <p:sp>
        <p:nvSpPr>
          <p:cNvPr id="11" name="Text 8"/>
          <p:cNvSpPr txBox="1"/>
          <p:nvPr/>
        </p:nvSpPr>
        <p:spPr>
          <a:xfrm>
            <a:off x="7818120" y="4453128"/>
            <a:ext cx="3593592" cy="713232"/>
          </a:xfrm>
          <a:prstGeom prst="rect">
            <a:avLst/>
          </a:prstGeom>
          <a:noFill/>
          <a:ln/>
        </p:spPr>
        <p:txBody>
          <a:bodyPr wrap="square" lIns="0" tIns="0" rIns="0" bIns="0" rtlCol="0" anchor="b"/>
          <a:lstStyle/>
          <a:p>
            <a:pPr marL="0" indent="0">
              <a:buNone/>
            </a:pPr>
            <a:r>
              <a:rPr lang="en-US" sz="3000" b="1" dirty="0">
                <a:solidFill>
                  <a:srgbClr val="1F4E79"/>
                </a:solidFill>
              </a:rPr>
              <a:t>About 45%</a:t>
            </a:r>
            <a:endParaRPr lang="en-US" sz="3000" dirty="0"/>
          </a:p>
        </p:txBody>
      </p:sp>
      <p:sp>
        <p:nvSpPr>
          <p:cNvPr id="12" name="Text 9"/>
          <p:cNvSpPr txBox="1"/>
          <p:nvPr/>
        </p:nvSpPr>
        <p:spPr>
          <a:xfrm>
            <a:off x="7818120" y="5138928"/>
            <a:ext cx="3593592" cy="521208"/>
          </a:xfrm>
          <a:prstGeom prst="rect">
            <a:avLst/>
          </a:prstGeom>
          <a:noFill/>
          <a:ln/>
        </p:spPr>
        <p:txBody>
          <a:bodyPr wrap="square" lIns="0" tIns="0" rIns="0" bIns="0" rtlCol="0" anchor="t"/>
          <a:lstStyle/>
          <a:p>
            <a:pPr marL="0" indent="0">
              <a:buNone/>
            </a:pPr>
            <a:r>
              <a:rPr lang="en-US" sz="1400" dirty="0">
                <a:solidFill>
                  <a:srgbClr val="1F2933"/>
                </a:solidFill>
              </a:rPr>
              <a:t>of listings held by the top 10% of hosts in both cities</a:t>
            </a:r>
            <a:endParaRPr lang="en-US" sz="1400" dirty="0"/>
          </a:p>
        </p:txBody>
      </p:sp>
      <p:sp>
        <p:nvSpPr>
          <p:cNvPr id="13" name="Text 10"/>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rgbClr val="595959"/>
                </a:solidFill>
              </a:rPr>
              <a:t>Source: author's SQL on the full Inside Airbnb dataset (Sep 2026). Index = rolling 12-month review count, Aug 2023 = 100.</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Booking Holdings is twice Airbnb's size and less exposed to city rules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779776">
                  <a:extLst>
                    <a:ext uri="{9D8B030D-6E8A-4147-A177-3AD203B41FA5}">
                      <a16:colId xmlns:a16="http://schemas.microsoft.com/office/drawing/2014/main" val="20001"/>
                    </a:ext>
                  </a:extLst>
                </a:gridCol>
                <a:gridCol w="2779776">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tblGrid>
              <a:tr h="566928">
                <a:tc>
                  <a:txBody>
                    <a:bodyPr/>
                    <a:lstStyle/>
                    <a:p>
                      <a:pPr marL="0" indent="0">
                        <a:buNone/>
                      </a:pPr>
                      <a:r>
                        <a:rPr lang="en-US" sz="1400" b="1" dirty="0">
                          <a:solidFill>
                            <a:srgbClr val="FFFFFF"/>
                          </a:solidFill>
                        </a:rPr>
                        <a:t>FY 2025</a:t>
                      </a:r>
                      <a:endParaRPr lang="en-US" sz="14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rPr>
                        <a:t>Airbnb</a:t>
                      </a:r>
                      <a:endParaRPr lang="en-US" sz="14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rPr>
                        <a:t>Booking Holdings</a:t>
                      </a:r>
                      <a:endParaRPr lang="en-US" sz="14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rPr>
                        <a:t>Expedia (incl. Vrbo)</a:t>
                      </a:r>
                      <a:endParaRPr lang="en-US" sz="14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6928">
                <a:tc>
                  <a:txBody>
                    <a:bodyPr/>
                    <a:lstStyle/>
                    <a:p>
                      <a:pPr marL="0" indent="0">
                        <a:buNone/>
                      </a:pPr>
                      <a:r>
                        <a:rPr lang="en-US" sz="1500" dirty="0">
                          <a:solidFill>
                            <a:srgbClr val="1F2933"/>
                          </a:solidFill>
                        </a:rPr>
                        <a:t>Revenue</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$12.2 bn (+10%)</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$26.9 bn (+13%)</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$14.7 bn (+8%)</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500" dirty="0">
                          <a:solidFill>
                            <a:srgbClr val="1F2933"/>
                          </a:solidFill>
                        </a:rPr>
                        <a:t>Gross bookings</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$91.3 bn</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$186.1 bn</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$119.6 bn</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500" dirty="0">
                          <a:solidFill>
                            <a:srgbClr val="1F2933"/>
                          </a:solidFill>
                        </a:rPr>
                        <a:t>Nights booked</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533 m</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1,235 m</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415 m</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500" dirty="0">
                          <a:solidFill>
                            <a:srgbClr val="1F2933"/>
                          </a:solidFill>
                        </a:rPr>
                        <a:t>Exposure to city rules</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High: private homes</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Lower: hotel-led</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1F2933"/>
                          </a:solidFill>
                        </a:rPr>
                        <a:t>Medium: holiday homes</a:t>
                      </a:r>
                      <a:endParaRPr lang="en-US" sz="1500" dirty="0"/>
                    </a:p>
                  </a:txBody>
                  <a:tcPr marT="91440" marB="9144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hape 1"/>
          <p:cNvSpPr/>
          <p:nvPr/>
        </p:nvSpPr>
        <p:spPr>
          <a:xfrm>
            <a:off x="548640" y="4480560"/>
            <a:ext cx="11091672" cy="1325880"/>
          </a:xfrm>
          <a:prstGeom prst="roundRect">
            <a:avLst>
              <a:gd name="adj" fmla="val 6897"/>
            </a:avLst>
          </a:prstGeom>
          <a:solidFill>
            <a:srgbClr val="EAF2FB"/>
          </a:solidFill>
          <a:ln w="12700">
            <a:solidFill>
              <a:srgbClr val="EAF2FB"/>
            </a:solidFill>
            <a:prstDash val="solid"/>
          </a:ln>
        </p:spPr>
      </p:sp>
      <p:sp>
        <p:nvSpPr>
          <p:cNvPr id="5" name="Text 2"/>
          <p:cNvSpPr txBox="1"/>
          <p:nvPr/>
        </p:nvSpPr>
        <p:spPr>
          <a:xfrm>
            <a:off x="777240" y="4526280"/>
            <a:ext cx="10607040" cy="1234440"/>
          </a:xfrm>
          <a:prstGeom prst="rect">
            <a:avLst/>
          </a:prstGeom>
          <a:noFill/>
          <a:ln/>
        </p:spPr>
        <p:txBody>
          <a:bodyPr wrap="square" lIns="0" tIns="0" rIns="0" bIns="0" rtlCol="0" anchor="ctr"/>
          <a:lstStyle/>
          <a:p>
            <a:pPr marL="0" indent="0">
              <a:buNone/>
            </a:pPr>
            <a:r>
              <a:rPr lang="en-US" sz="1600" b="1" dirty="0">
                <a:solidFill>
                  <a:srgbClr val="1F4E79"/>
                </a:solidFill>
              </a:rPr>
              <a:t>So what: </a:t>
            </a:r>
            <a:r>
              <a:rPr lang="en-US" sz="1600" dirty="0">
                <a:solidFill>
                  <a:srgbClr val="1F2933"/>
                </a:solidFill>
              </a:rPr>
              <a:t>where rules push short stays back to hotels, as in New York, Airbnb's advantage is weakest and Booking and Expedia are strongest. Airbnb's edge is homes, long stays and experiences, which rivals do not match at the same scale.</a:t>
            </a:r>
            <a:endParaRPr lang="en-US" sz="1600" dirty="0"/>
          </a:p>
        </p:txBody>
      </p:sp>
      <p:sp>
        <p:nvSpPr>
          <p:cNvPr id="6" name="Text 3"/>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rgbClr val="595959"/>
                </a:solidFill>
              </a:rPr>
              <a:t>Sources: Short Term Rentalz (2026) for Airbnb; Booking Holdings (2026); Expedia Group (2026) full-year 2025 releases.</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2600" b="1" dirty="0">
                <a:solidFill>
                  <a:srgbClr val="1F4E79"/>
                </a:solidFill>
              </a:rPr>
              <a:t>Recommendations: build mid-term stays in New York and protect London's core</a:t>
            </a:r>
            <a:endParaRPr lang="en-US" sz="2600" dirty="0"/>
          </a:p>
        </p:txBody>
      </p:sp>
      <p:sp>
        <p:nvSpPr>
          <p:cNvPr id="3" name="Shape 1"/>
          <p:cNvSpPr/>
          <p:nvPr/>
        </p:nvSpPr>
        <p:spPr>
          <a:xfrm>
            <a:off x="548640" y="1371600"/>
            <a:ext cx="3593592" cy="3291840"/>
          </a:xfrm>
          <a:prstGeom prst="roundRect">
            <a:avLst>
              <a:gd name="adj" fmla="val 3333"/>
            </a:avLst>
          </a:prstGeom>
          <a:solidFill>
            <a:srgbClr val="EAF2FB"/>
          </a:solidFill>
          <a:ln w="12700">
            <a:solidFill>
              <a:srgbClr val="EAF2FB"/>
            </a:solidFill>
            <a:prstDash val="solid"/>
          </a:ln>
        </p:spPr>
      </p:sp>
      <p:sp>
        <p:nvSpPr>
          <p:cNvPr id="4" name="Text 2"/>
          <p:cNvSpPr txBox="1"/>
          <p:nvPr/>
        </p:nvSpPr>
        <p:spPr>
          <a:xfrm>
            <a:off x="777240" y="1508760"/>
            <a:ext cx="3154680" cy="457200"/>
          </a:xfrm>
          <a:prstGeom prst="rect">
            <a:avLst/>
          </a:prstGeom>
          <a:noFill/>
          <a:ln/>
        </p:spPr>
        <p:txBody>
          <a:bodyPr wrap="square" lIns="0" tIns="0" rIns="0" bIns="0" rtlCol="0" anchor="ctr"/>
          <a:lstStyle/>
          <a:p>
            <a:pPr marL="0" indent="0">
              <a:buNone/>
            </a:pPr>
            <a:r>
              <a:rPr lang="en-US" sz="2000" b="1" dirty="0">
                <a:solidFill>
                  <a:srgbClr val="1F4E79"/>
                </a:solidFill>
              </a:rPr>
              <a:t>New York</a:t>
            </a:r>
            <a:endParaRPr lang="en-US" sz="2000" dirty="0"/>
          </a:p>
        </p:txBody>
      </p:sp>
      <p:sp>
        <p:nvSpPr>
          <p:cNvPr id="5" name="Text 3"/>
          <p:cNvSpPr txBox="1"/>
          <p:nvPr/>
        </p:nvSpPr>
        <p:spPr>
          <a:xfrm>
            <a:off x="777240" y="2103120"/>
            <a:ext cx="3154680" cy="24688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2933"/>
                </a:solidFill>
              </a:rPr>
              <a:t>Launch a 30+ night product for corporate and relocation guests</a:t>
            </a:r>
            <a:endParaRPr lang="en-US" sz="1800" dirty="0"/>
          </a:p>
          <a:p>
            <a:pPr marL="342900" indent="-342900">
              <a:spcAft>
                <a:spcPts val="1400"/>
              </a:spcAft>
              <a:buSzPct val="100000"/>
              <a:buChar char="•"/>
            </a:pPr>
            <a:r>
              <a:rPr lang="en-US" sz="1800" dirty="0">
                <a:solidFill>
                  <a:srgbClr val="1F2933"/>
                </a:solidFill>
              </a:rPr>
              <a:t>Help 757 unlicensed short-stay hosts register or switch to 30-night minimums</a:t>
            </a:r>
            <a:endParaRPr lang="en-US" sz="1800" dirty="0"/>
          </a:p>
        </p:txBody>
      </p:sp>
      <p:sp>
        <p:nvSpPr>
          <p:cNvPr id="6" name="Shape 4"/>
          <p:cNvSpPr/>
          <p:nvPr/>
        </p:nvSpPr>
        <p:spPr>
          <a:xfrm>
            <a:off x="4297680" y="1371600"/>
            <a:ext cx="3593592" cy="3291840"/>
          </a:xfrm>
          <a:prstGeom prst="roundRect">
            <a:avLst>
              <a:gd name="adj" fmla="val 3333"/>
            </a:avLst>
          </a:prstGeom>
          <a:solidFill>
            <a:srgbClr val="EAF2FB"/>
          </a:solidFill>
          <a:ln w="12700">
            <a:solidFill>
              <a:srgbClr val="EAF2FB"/>
            </a:solidFill>
            <a:prstDash val="solid"/>
          </a:ln>
        </p:spPr>
      </p:sp>
      <p:sp>
        <p:nvSpPr>
          <p:cNvPr id="7" name="Text 5"/>
          <p:cNvSpPr txBox="1"/>
          <p:nvPr/>
        </p:nvSpPr>
        <p:spPr>
          <a:xfrm>
            <a:off x="4526280" y="1508760"/>
            <a:ext cx="3154680" cy="457200"/>
          </a:xfrm>
          <a:prstGeom prst="rect">
            <a:avLst/>
          </a:prstGeom>
          <a:noFill/>
          <a:ln/>
        </p:spPr>
        <p:txBody>
          <a:bodyPr wrap="square" lIns="0" tIns="0" rIns="0" bIns="0" rtlCol="0" anchor="ctr"/>
          <a:lstStyle/>
          <a:p>
            <a:pPr marL="0" indent="0">
              <a:buNone/>
            </a:pPr>
            <a:r>
              <a:rPr lang="en-US" sz="2000" b="1" dirty="0">
                <a:solidFill>
                  <a:srgbClr val="1F4E79"/>
                </a:solidFill>
              </a:rPr>
              <a:t>London</a:t>
            </a:r>
            <a:endParaRPr lang="en-US" sz="2000" dirty="0"/>
          </a:p>
        </p:txBody>
      </p:sp>
      <p:sp>
        <p:nvSpPr>
          <p:cNvPr id="8" name="Text 6"/>
          <p:cNvSpPr txBox="1"/>
          <p:nvPr/>
        </p:nvSpPr>
        <p:spPr>
          <a:xfrm>
            <a:off x="4526280" y="2103120"/>
            <a:ext cx="3154680" cy="24688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2933"/>
                </a:solidFill>
              </a:rPr>
              <a:t>Protect the core: 11 of 33 boroughs earn 80% of revenue</a:t>
            </a:r>
            <a:endParaRPr lang="en-US" sz="1800" dirty="0"/>
          </a:p>
          <a:p>
            <a:pPr marL="342900" indent="-342900">
              <a:spcAft>
                <a:spcPts val="1400"/>
              </a:spcAft>
              <a:buSzPct val="100000"/>
              <a:buChar char="•"/>
            </a:pPr>
            <a:r>
              <a:rPr lang="en-US" sz="1800" dirty="0">
                <a:solidFill>
                  <a:srgbClr val="1F2933"/>
                </a:solidFill>
              </a:rPr>
              <a:t>Recruit hosts in under-supplied areas such as Haringey and Newham</a:t>
            </a:r>
            <a:endParaRPr lang="en-US" sz="1800" dirty="0"/>
          </a:p>
        </p:txBody>
      </p:sp>
      <p:sp>
        <p:nvSpPr>
          <p:cNvPr id="9" name="Shape 7"/>
          <p:cNvSpPr/>
          <p:nvPr/>
        </p:nvSpPr>
        <p:spPr>
          <a:xfrm>
            <a:off x="8046720" y="1371600"/>
            <a:ext cx="3593592" cy="3291840"/>
          </a:xfrm>
          <a:prstGeom prst="roundRect">
            <a:avLst>
              <a:gd name="adj" fmla="val 3333"/>
            </a:avLst>
          </a:prstGeom>
          <a:solidFill>
            <a:srgbClr val="EAF2FB"/>
          </a:solidFill>
          <a:ln w="12700">
            <a:solidFill>
              <a:srgbClr val="EAF2FB"/>
            </a:solidFill>
            <a:prstDash val="solid"/>
          </a:ln>
        </p:spPr>
      </p:sp>
      <p:sp>
        <p:nvSpPr>
          <p:cNvPr id="10" name="Text 8"/>
          <p:cNvSpPr txBox="1"/>
          <p:nvPr/>
        </p:nvSpPr>
        <p:spPr>
          <a:xfrm>
            <a:off x="8275320" y="1508760"/>
            <a:ext cx="3154680" cy="457200"/>
          </a:xfrm>
          <a:prstGeom prst="rect">
            <a:avLst/>
          </a:prstGeom>
          <a:noFill/>
          <a:ln/>
        </p:spPr>
        <p:txBody>
          <a:bodyPr wrap="square" lIns="0" tIns="0" rIns="0" bIns="0" rtlCol="0" anchor="ctr"/>
          <a:lstStyle/>
          <a:p>
            <a:pPr marL="0" indent="0">
              <a:buNone/>
            </a:pPr>
            <a:r>
              <a:rPr lang="en-US" sz="2000" b="1" dirty="0">
                <a:solidFill>
                  <a:srgbClr val="1F4E79"/>
                </a:solidFill>
              </a:rPr>
              <a:t>Platform</a:t>
            </a:r>
            <a:endParaRPr lang="en-US" sz="2000" dirty="0"/>
          </a:p>
        </p:txBody>
      </p:sp>
      <p:sp>
        <p:nvSpPr>
          <p:cNvPr id="11" name="Text 9"/>
          <p:cNvSpPr txBox="1"/>
          <p:nvPr/>
        </p:nvSpPr>
        <p:spPr>
          <a:xfrm>
            <a:off x="8275320" y="2103120"/>
            <a:ext cx="3154680" cy="24688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2933"/>
                </a:solidFill>
              </a:rPr>
              <a:t>Reactivate dormant listings: 1,000 at today's active rate = about $34 m</a:t>
            </a:r>
            <a:endParaRPr lang="en-US" sz="1800" dirty="0"/>
          </a:p>
          <a:p>
            <a:pPr marL="342900" indent="-342900">
              <a:spcAft>
                <a:spcPts val="1400"/>
              </a:spcAft>
              <a:buSzPct val="100000"/>
              <a:buChar char="•"/>
            </a:pPr>
            <a:r>
              <a:rPr lang="en-US" sz="1800" dirty="0">
                <a:solidFill>
                  <a:srgbClr val="1F2933"/>
                </a:solidFill>
              </a:rPr>
              <a:t>Account management for top hosts; move the pipeline to S3, Spark, Airflow and Power BI Service</a:t>
            </a:r>
            <a:endParaRPr lang="en-US" sz="1800" dirty="0"/>
          </a:p>
        </p:txBody>
      </p:sp>
      <p:sp>
        <p:nvSpPr>
          <p:cNvPr id="12" name="Text 10"/>
          <p:cNvSpPr txBox="1"/>
          <p:nvPr/>
        </p:nvSpPr>
        <p:spPr>
          <a:xfrm>
            <a:off x="548640" y="4892040"/>
            <a:ext cx="11091672" cy="822960"/>
          </a:xfrm>
          <a:prstGeom prst="rect">
            <a:avLst/>
          </a:prstGeom>
          <a:noFill/>
          <a:ln/>
        </p:spPr>
        <p:txBody>
          <a:bodyPr wrap="square" lIns="0" tIns="0" rIns="0" bIns="0" rtlCol="0" anchor="ctr"/>
          <a:lstStyle/>
          <a:p>
            <a:pPr marL="0" indent="0">
              <a:buNone/>
            </a:pPr>
            <a:r>
              <a:rPr lang="en-US" sz="1900" b="1" dirty="0">
                <a:solidFill>
                  <a:srgbClr val="B22222"/>
                </a:solidFill>
              </a:rPr>
              <a:t>Conclusion: </a:t>
            </a:r>
            <a:r>
              <a:rPr lang="en-US" sz="1900" dirty="0">
                <a:solidFill>
                  <a:srgbClr val="1F2933"/>
                </a:solidFill>
              </a:rPr>
              <a:t>one strategy will not fit both cities. The pipeline and dashboard give managers live evidence to treat them differently.</a:t>
            </a:r>
            <a:endParaRPr lang="en-US" sz="1900" dirty="0"/>
          </a:p>
        </p:txBody>
      </p:sp>
      <p:sp>
        <p:nvSpPr>
          <p:cNvPr id="13" name="Text 11"/>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rgbClr val="595959"/>
                </a:solidFill>
              </a:rPr>
              <a:t>Key references: Inside Airbnb (2026); Mayfield et al. (2016); Kimball &amp; Ross (2013); NYC OSE (n.d.); full list in the written report.</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Airbnb BDI">
  <a:themeElements>
    <a:clrScheme name="Airbnb BDI">
      <a:dk1>
        <a:srgbClr val="1F2933"/>
      </a:dk1>
      <a:lt1>
        <a:srgbClr val="FFFFFF"/>
      </a:lt1>
      <a:dk2>
        <a:srgbClr val="1F4E79"/>
      </a:dk2>
      <a:lt2>
        <a:srgbClr val="EAF2FB"/>
      </a:lt2>
      <a:accent1>
        <a:srgbClr val="1F4E79"/>
      </a:accent1>
      <a:accent2>
        <a:srgbClr val="7FB2E5"/>
      </a:accent2>
      <a:accent3>
        <a:srgbClr val="B22222"/>
      </a:accent3>
      <a:accent4>
        <a:srgbClr val="2E75B6"/>
      </a:accent4>
      <a:accent5>
        <a:srgbClr val="595959"/>
      </a:accent5>
      <a:accent6>
        <a:srgbClr val="D9D9D9"/>
      </a:accent6>
      <a:hlink>
        <a:srgbClr val="2E75B6"/>
      </a:hlink>
      <a:folHlink>
        <a:srgbClr val="1F4E79"/>
      </a:folHlink>
    </a:clrScheme>
    <a:fontScheme name="Airbnb BD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2261</Words>
  <Application>Microsoft Office PowerPoint</Application>
  <PresentationFormat>Widescreen</PresentationFormat>
  <Paragraphs>151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Airbnb BDI</vt:lpstr>
      <vt:lpstr>PowerPoint Presentation</vt:lpstr>
      <vt:lpstr>Airbnb needs one trusted view of two very different city markets</vt:lpstr>
      <vt:lpstr>ELT lands raw data first, then transforms it inside MySQL</vt:lpstr>
      <vt:lpstr>Twelve logged cleaning rules feed a star schema built for analysis</vt:lpstr>
      <vt:lpstr>Advanced SQL defines each KPI once and answers sixteen business questions</vt:lpstr>
      <vt:lpstr>A 15-minute MySQL event makes the dashboard near-real-time</vt:lpstr>
      <vt:lpstr>Four Power BI pages take managers from city level down to one neighbourhood</vt:lpstr>
      <vt:lpstr>After Local Law 18, New York demand fell while London's doubled</vt:lpstr>
      <vt:lpstr>Booking Holdings is twice Airbnb's size and less exposed to city rules</vt:lpstr>
      <vt:lpstr>Recommendations: build mid-term stays in New York and protect London's core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Short-Term Rental Analytics for Airbnb</dc:title>
  <dc:subject>PptxGenJS Presentation</dc:subject>
  <dc:creator>Alex Abraham</dc:creator>
  <cp:lastModifiedBy>ALEX ABRAHAM</cp:lastModifiedBy>
  <cp:revision>2</cp:revision>
  <dcterms:created xsi:type="dcterms:W3CDTF">2026-10-10T19:40:44Z</dcterms:created>
  <dcterms:modified xsi:type="dcterms:W3CDTF">2026-10-10T20:10:15Z</dcterms:modified>
</cp:coreProperties>
</file>